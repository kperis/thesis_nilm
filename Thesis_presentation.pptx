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40"/>
  </p:notesMasterIdLst>
  <p:sldIdLst>
    <p:sldId id="256" r:id="rId2"/>
    <p:sldId id="258" r:id="rId3"/>
    <p:sldId id="259" r:id="rId4"/>
    <p:sldId id="260" r:id="rId5"/>
    <p:sldId id="340" r:id="rId6"/>
    <p:sldId id="304" r:id="rId7"/>
    <p:sldId id="264" r:id="rId8"/>
    <p:sldId id="305" r:id="rId9"/>
    <p:sldId id="307" r:id="rId10"/>
    <p:sldId id="332" r:id="rId11"/>
    <p:sldId id="309" r:id="rId12"/>
    <p:sldId id="269" r:id="rId13"/>
    <p:sldId id="268" r:id="rId14"/>
    <p:sldId id="267" r:id="rId15"/>
    <p:sldId id="314" r:id="rId16"/>
    <p:sldId id="315" r:id="rId17"/>
    <p:sldId id="308" r:id="rId18"/>
    <p:sldId id="316" r:id="rId19"/>
    <p:sldId id="317" r:id="rId20"/>
    <p:sldId id="310" r:id="rId21"/>
    <p:sldId id="320" r:id="rId22"/>
    <p:sldId id="321" r:id="rId23"/>
    <p:sldId id="322" r:id="rId24"/>
    <p:sldId id="319" r:id="rId25"/>
    <p:sldId id="324" r:id="rId26"/>
    <p:sldId id="336" r:id="rId27"/>
    <p:sldId id="337" r:id="rId28"/>
    <p:sldId id="338" r:id="rId29"/>
    <p:sldId id="339" r:id="rId30"/>
    <p:sldId id="325" r:id="rId31"/>
    <p:sldId id="330" r:id="rId32"/>
    <p:sldId id="331" r:id="rId33"/>
    <p:sldId id="334" r:id="rId34"/>
    <p:sldId id="333" r:id="rId35"/>
    <p:sldId id="335" r:id="rId36"/>
    <p:sldId id="329" r:id="rId37"/>
    <p:sldId id="326" r:id="rId38"/>
    <p:sldId id="328" r:id="rId39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41"/>
    </p:embeddedFont>
    <p:embeddedFont>
      <p:font typeface="Mulish" panose="020B0604020202020204" charset="0"/>
      <p:regular r:id="rId42"/>
      <p:bold r:id="rId43"/>
      <p:italic r:id="rId44"/>
      <p:boldItalic r:id="rId45"/>
    </p:embeddedFont>
    <p:embeddedFont>
      <p:font typeface="Quicksand" panose="020B0604020202020204" charset="0"/>
      <p:regular r:id="rId46"/>
      <p:bold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5C5F"/>
    <a:srgbClr val="747476"/>
    <a:srgbClr val="927C71"/>
    <a:srgbClr val="9F8B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5EFFA3-C802-4DDA-AAFF-A1C04C8AA734}">
  <a:tblStyle styleId="{815EFFA3-C802-4DDA-AAFF-A1C04C8AA7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08" y="1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A0905BC1-AE68-9846-A315-DD7B310E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8EB6C597-BDE6-DF46-8AD9-FC38B55CEB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F757AB66-036E-3669-F360-F06B37E716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7869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96059EDB-E9DC-B6B4-7877-A7126BEF9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FAD9B23C-7E86-692B-298B-BE0FDC365F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DD88F6AF-B79C-E34D-FE36-0FEA0EF889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629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EB163561-FC3F-0F3C-5B08-CD1926BBA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>
            <a:extLst>
              <a:ext uri="{FF2B5EF4-FFF2-40B4-BE49-F238E27FC236}">
                <a16:creationId xmlns:a16="http://schemas.microsoft.com/office/drawing/2014/main" id="{805BA8FC-849D-BC0A-537F-D4AD3234FE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>
            <a:extLst>
              <a:ext uri="{FF2B5EF4-FFF2-40B4-BE49-F238E27FC236}">
                <a16:creationId xmlns:a16="http://schemas.microsoft.com/office/drawing/2014/main" id="{6F1D311F-5648-0803-466F-8AF870569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0822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55BF03A0-C866-B545-81E1-3B78E1DEA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7b871a421_0_0:notes">
            <a:extLst>
              <a:ext uri="{FF2B5EF4-FFF2-40B4-BE49-F238E27FC236}">
                <a16:creationId xmlns:a16="http://schemas.microsoft.com/office/drawing/2014/main" id="{00936334-A405-EA4C-D0D3-E33FD0C4DC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7b871a421_0_0:notes">
            <a:extLst>
              <a:ext uri="{FF2B5EF4-FFF2-40B4-BE49-F238E27FC236}">
                <a16:creationId xmlns:a16="http://schemas.microsoft.com/office/drawing/2014/main" id="{2B96F23E-36B1-5B65-6573-394D1BE5C0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988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55812F3B-5216-23AE-9A9D-5BB095888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7b871a421_0_0:notes">
            <a:extLst>
              <a:ext uri="{FF2B5EF4-FFF2-40B4-BE49-F238E27FC236}">
                <a16:creationId xmlns:a16="http://schemas.microsoft.com/office/drawing/2014/main" id="{E5E961E2-BFA2-1F83-EBCF-E4BF2266B8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7b871a421_0_0:notes">
            <a:extLst>
              <a:ext uri="{FF2B5EF4-FFF2-40B4-BE49-F238E27FC236}">
                <a16:creationId xmlns:a16="http://schemas.microsoft.com/office/drawing/2014/main" id="{32576262-805C-EB61-C305-C99DC5A0C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342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4D8D8975-0904-22F4-9D4D-00C414714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>
            <a:extLst>
              <a:ext uri="{FF2B5EF4-FFF2-40B4-BE49-F238E27FC236}">
                <a16:creationId xmlns:a16="http://schemas.microsoft.com/office/drawing/2014/main" id="{588BEE9B-F48E-4866-4B60-7EC6A865AE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>
            <a:extLst>
              <a:ext uri="{FF2B5EF4-FFF2-40B4-BE49-F238E27FC236}">
                <a16:creationId xmlns:a16="http://schemas.microsoft.com/office/drawing/2014/main" id="{DBEA1D8F-C1C9-DEFA-48BA-87AA958EDC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8912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3f6155f6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3f6155f6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7b871a4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7b871a42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D1E37278-166C-01D7-8236-98E749C01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>
            <a:extLst>
              <a:ext uri="{FF2B5EF4-FFF2-40B4-BE49-F238E27FC236}">
                <a16:creationId xmlns:a16="http://schemas.microsoft.com/office/drawing/2014/main" id="{7F28DB29-8D17-A1F8-AF98-ECB28B8282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>
            <a:extLst>
              <a:ext uri="{FF2B5EF4-FFF2-40B4-BE49-F238E27FC236}">
                <a16:creationId xmlns:a16="http://schemas.microsoft.com/office/drawing/2014/main" id="{9ABF03C8-A1F8-EA3C-9154-DA0FAC1F34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08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7C2EC05E-07A6-FF49-2789-07CAC676B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3f6155f6d_0_69:notes">
            <a:extLst>
              <a:ext uri="{FF2B5EF4-FFF2-40B4-BE49-F238E27FC236}">
                <a16:creationId xmlns:a16="http://schemas.microsoft.com/office/drawing/2014/main" id="{7469BB1E-7B71-BE23-A74B-F42E193BA1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3f6155f6d_0_69:notes">
            <a:extLst>
              <a:ext uri="{FF2B5EF4-FFF2-40B4-BE49-F238E27FC236}">
                <a16:creationId xmlns:a16="http://schemas.microsoft.com/office/drawing/2014/main" id="{1C23953B-E6CE-BFB6-3D06-5D47F602DA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37620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C822CBE6-913B-A984-9731-ACB419617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7b871a421_0_0:notes">
            <a:extLst>
              <a:ext uri="{FF2B5EF4-FFF2-40B4-BE49-F238E27FC236}">
                <a16:creationId xmlns:a16="http://schemas.microsoft.com/office/drawing/2014/main" id="{F7C1672B-E689-5713-0C5F-CE59AEBDB2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7b871a421_0_0:notes">
            <a:extLst>
              <a:ext uri="{FF2B5EF4-FFF2-40B4-BE49-F238E27FC236}">
                <a16:creationId xmlns:a16="http://schemas.microsoft.com/office/drawing/2014/main" id="{23F9D3E9-3B87-DEC8-C936-FFDD6F5544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6020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1B5B1598-BA73-5795-E0EA-0137C0B0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7b871a421_0_0:notes">
            <a:extLst>
              <a:ext uri="{FF2B5EF4-FFF2-40B4-BE49-F238E27FC236}">
                <a16:creationId xmlns:a16="http://schemas.microsoft.com/office/drawing/2014/main" id="{49A0AFCF-4D5E-A6B4-6484-6727E0333D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7b871a421_0_0:notes">
            <a:extLst>
              <a:ext uri="{FF2B5EF4-FFF2-40B4-BE49-F238E27FC236}">
                <a16:creationId xmlns:a16="http://schemas.microsoft.com/office/drawing/2014/main" id="{3C524C97-1909-5FB5-2F29-4C3D6344D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903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59521B27-9563-B935-1ED7-02C1F344B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7b871a421_0_0:notes">
            <a:extLst>
              <a:ext uri="{FF2B5EF4-FFF2-40B4-BE49-F238E27FC236}">
                <a16:creationId xmlns:a16="http://schemas.microsoft.com/office/drawing/2014/main" id="{E4783BB6-EF22-71B4-8CEC-87CBB89C18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7b871a421_0_0:notes">
            <a:extLst>
              <a:ext uri="{FF2B5EF4-FFF2-40B4-BE49-F238E27FC236}">
                <a16:creationId xmlns:a16="http://schemas.microsoft.com/office/drawing/2014/main" id="{5B89286B-8F52-0241-6848-CC6103CC1E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72141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EEBB5006-907C-4EDC-B0CC-57F76F5F7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7b871a421_0_0:notes">
            <a:extLst>
              <a:ext uri="{FF2B5EF4-FFF2-40B4-BE49-F238E27FC236}">
                <a16:creationId xmlns:a16="http://schemas.microsoft.com/office/drawing/2014/main" id="{CF30C8FD-E1D2-FAEF-9320-F39C8F7A9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7b871a421_0_0:notes">
            <a:extLst>
              <a:ext uri="{FF2B5EF4-FFF2-40B4-BE49-F238E27FC236}">
                <a16:creationId xmlns:a16="http://schemas.microsoft.com/office/drawing/2014/main" id="{B9DC0BCA-B5C3-2851-30FC-2516D1ED7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99577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CFE8D9BE-4E8E-6693-5EF9-E219BFF87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7b871a421_0_0:notes">
            <a:extLst>
              <a:ext uri="{FF2B5EF4-FFF2-40B4-BE49-F238E27FC236}">
                <a16:creationId xmlns:a16="http://schemas.microsoft.com/office/drawing/2014/main" id="{7AFCE5CA-1D2C-A9BD-F2C6-ED8E93461B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7b871a421_0_0:notes">
            <a:extLst>
              <a:ext uri="{FF2B5EF4-FFF2-40B4-BE49-F238E27FC236}">
                <a16:creationId xmlns:a16="http://schemas.microsoft.com/office/drawing/2014/main" id="{436395F6-20B9-865C-26DD-104759AD29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294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B8BCCD9C-AF62-0874-0AB1-DB6FE7E43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7b871a421_0_0:notes">
            <a:extLst>
              <a:ext uri="{FF2B5EF4-FFF2-40B4-BE49-F238E27FC236}">
                <a16:creationId xmlns:a16="http://schemas.microsoft.com/office/drawing/2014/main" id="{B8D57FC6-03E8-CD4C-1421-FA4CE018A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7b871a421_0_0:notes">
            <a:extLst>
              <a:ext uri="{FF2B5EF4-FFF2-40B4-BE49-F238E27FC236}">
                <a16:creationId xmlns:a16="http://schemas.microsoft.com/office/drawing/2014/main" id="{7608DB56-91BA-81B4-9425-B0D29B48EC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4928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65099BB0-13C9-72E9-B447-72CFAE76E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>
            <a:extLst>
              <a:ext uri="{FF2B5EF4-FFF2-40B4-BE49-F238E27FC236}">
                <a16:creationId xmlns:a16="http://schemas.microsoft.com/office/drawing/2014/main" id="{786B18E7-9985-70D2-FCEB-3B97BF0EF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>
            <a:extLst>
              <a:ext uri="{FF2B5EF4-FFF2-40B4-BE49-F238E27FC236}">
                <a16:creationId xmlns:a16="http://schemas.microsoft.com/office/drawing/2014/main" id="{51A488F1-352D-E4BE-F098-0526FBBB5F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40266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4CE5E446-30AA-3DA2-DBC3-D66E9DA5F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7b871a421_0_0:notes">
            <a:extLst>
              <a:ext uri="{FF2B5EF4-FFF2-40B4-BE49-F238E27FC236}">
                <a16:creationId xmlns:a16="http://schemas.microsoft.com/office/drawing/2014/main" id="{A7EED8D7-6CF9-AA81-C1AC-092A569277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7b871a421_0_0:notes">
            <a:extLst>
              <a:ext uri="{FF2B5EF4-FFF2-40B4-BE49-F238E27FC236}">
                <a16:creationId xmlns:a16="http://schemas.microsoft.com/office/drawing/2014/main" id="{C9495488-6516-BA65-29DB-BA80F4A7D6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9490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EE7C201A-7686-1F9E-0A49-9869908E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>
            <a:extLst>
              <a:ext uri="{FF2B5EF4-FFF2-40B4-BE49-F238E27FC236}">
                <a16:creationId xmlns:a16="http://schemas.microsoft.com/office/drawing/2014/main" id="{A94E0FE2-0F26-D221-FCF0-D79F8CC0E6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>
            <a:extLst>
              <a:ext uri="{FF2B5EF4-FFF2-40B4-BE49-F238E27FC236}">
                <a16:creationId xmlns:a16="http://schemas.microsoft.com/office/drawing/2014/main" id="{C1CEC13C-B0CC-7CA4-8B4C-39C79EC10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60811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CF58AC83-33DF-5409-5155-2E67C0C0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>
            <a:extLst>
              <a:ext uri="{FF2B5EF4-FFF2-40B4-BE49-F238E27FC236}">
                <a16:creationId xmlns:a16="http://schemas.microsoft.com/office/drawing/2014/main" id="{5F9648F7-68BF-2198-B11D-B0E616F657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>
            <a:extLst>
              <a:ext uri="{FF2B5EF4-FFF2-40B4-BE49-F238E27FC236}">
                <a16:creationId xmlns:a16="http://schemas.microsoft.com/office/drawing/2014/main" id="{FB4475E8-688F-627F-C171-35410827DC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70675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3FE4E0FC-753E-8E47-722A-CD655B0F3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>
            <a:extLst>
              <a:ext uri="{FF2B5EF4-FFF2-40B4-BE49-F238E27FC236}">
                <a16:creationId xmlns:a16="http://schemas.microsoft.com/office/drawing/2014/main" id="{4673E612-E248-EA04-DE8F-8C6506045E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>
            <a:extLst>
              <a:ext uri="{FF2B5EF4-FFF2-40B4-BE49-F238E27FC236}">
                <a16:creationId xmlns:a16="http://schemas.microsoft.com/office/drawing/2014/main" id="{83857812-E9C7-1E9F-446E-60658BF52C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44460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3AD7C0F5-2D06-8A9A-1CE1-3B70E457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>
            <a:extLst>
              <a:ext uri="{FF2B5EF4-FFF2-40B4-BE49-F238E27FC236}">
                <a16:creationId xmlns:a16="http://schemas.microsoft.com/office/drawing/2014/main" id="{53B141A6-8EC5-4D2D-BFA2-79948235E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>
            <a:extLst>
              <a:ext uri="{FF2B5EF4-FFF2-40B4-BE49-F238E27FC236}">
                <a16:creationId xmlns:a16="http://schemas.microsoft.com/office/drawing/2014/main" id="{09B8442D-BD51-CE03-121D-C2353CF47A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4083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BCE53E1E-03A0-AA74-969B-6B941EF30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>
            <a:extLst>
              <a:ext uri="{FF2B5EF4-FFF2-40B4-BE49-F238E27FC236}">
                <a16:creationId xmlns:a16="http://schemas.microsoft.com/office/drawing/2014/main" id="{F07C0721-8C94-F9AE-8CAE-CFB4CD6CD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>
            <a:extLst>
              <a:ext uri="{FF2B5EF4-FFF2-40B4-BE49-F238E27FC236}">
                <a16:creationId xmlns:a16="http://schemas.microsoft.com/office/drawing/2014/main" id="{7D04CF00-100B-64DD-217B-A392DB89BD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38068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E2D62FF9-0566-C10B-F1D0-885C8867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7b871a421_0_0:notes">
            <a:extLst>
              <a:ext uri="{FF2B5EF4-FFF2-40B4-BE49-F238E27FC236}">
                <a16:creationId xmlns:a16="http://schemas.microsoft.com/office/drawing/2014/main" id="{AFD6B431-0DF6-F164-710C-F0FD1C6862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7b871a421_0_0:notes">
            <a:extLst>
              <a:ext uri="{FF2B5EF4-FFF2-40B4-BE49-F238E27FC236}">
                <a16:creationId xmlns:a16="http://schemas.microsoft.com/office/drawing/2014/main" id="{D917A582-2A70-BC3A-B4B5-356FBAC5C6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13068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83891D52-07E0-684B-3CF3-47119B1A2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>
            <a:extLst>
              <a:ext uri="{FF2B5EF4-FFF2-40B4-BE49-F238E27FC236}">
                <a16:creationId xmlns:a16="http://schemas.microsoft.com/office/drawing/2014/main" id="{790F44B8-2709-729E-D34C-A7B1F5E993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>
            <a:extLst>
              <a:ext uri="{FF2B5EF4-FFF2-40B4-BE49-F238E27FC236}">
                <a16:creationId xmlns:a16="http://schemas.microsoft.com/office/drawing/2014/main" id="{B17816F0-79F2-E951-5B63-8B222F3980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04479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F2557AB5-5C46-6882-819F-2C3C95531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>
            <a:extLst>
              <a:ext uri="{FF2B5EF4-FFF2-40B4-BE49-F238E27FC236}">
                <a16:creationId xmlns:a16="http://schemas.microsoft.com/office/drawing/2014/main" id="{310969B7-9C34-365A-D4C0-F42F85EA6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>
            <a:extLst>
              <a:ext uri="{FF2B5EF4-FFF2-40B4-BE49-F238E27FC236}">
                <a16:creationId xmlns:a16="http://schemas.microsoft.com/office/drawing/2014/main" id="{87E4D0EB-7431-4F72-3182-AF18D8D079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55886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5B801CED-AE1E-5176-F8BF-711E4E5A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>
            <a:extLst>
              <a:ext uri="{FF2B5EF4-FFF2-40B4-BE49-F238E27FC236}">
                <a16:creationId xmlns:a16="http://schemas.microsoft.com/office/drawing/2014/main" id="{8EF29B43-EA90-5AB3-7976-02984E54D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>
            <a:extLst>
              <a:ext uri="{FF2B5EF4-FFF2-40B4-BE49-F238E27FC236}">
                <a16:creationId xmlns:a16="http://schemas.microsoft.com/office/drawing/2014/main" id="{2E9FFE3F-2993-911E-5C96-420C0CF3EF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142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F39EBC12-A369-0F1A-C7BA-84D6AD5BF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>
            <a:extLst>
              <a:ext uri="{FF2B5EF4-FFF2-40B4-BE49-F238E27FC236}">
                <a16:creationId xmlns:a16="http://schemas.microsoft.com/office/drawing/2014/main" id="{263EE114-4FFF-5A42-D02F-B039BBFD8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>
            <a:extLst>
              <a:ext uri="{FF2B5EF4-FFF2-40B4-BE49-F238E27FC236}">
                <a16:creationId xmlns:a16="http://schemas.microsoft.com/office/drawing/2014/main" id="{182BC976-BA72-6DB7-27C6-313022C72C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7792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>
          <a:extLst>
            <a:ext uri="{FF2B5EF4-FFF2-40B4-BE49-F238E27FC236}">
              <a16:creationId xmlns:a16="http://schemas.microsoft.com/office/drawing/2014/main" id="{01D30C3A-434B-4450-CE42-E9EBA08AD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dd46dd1d67_2_681:notes">
            <a:extLst>
              <a:ext uri="{FF2B5EF4-FFF2-40B4-BE49-F238E27FC236}">
                <a16:creationId xmlns:a16="http://schemas.microsoft.com/office/drawing/2014/main" id="{1A18CE71-33B5-029E-D711-F5B074B18A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dd46dd1d67_2_681:notes">
            <a:extLst>
              <a:ext uri="{FF2B5EF4-FFF2-40B4-BE49-F238E27FC236}">
                <a16:creationId xmlns:a16="http://schemas.microsoft.com/office/drawing/2014/main" id="{0AA1FADE-6130-C1A3-E4F5-918D86F70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28386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19B88825-0CE3-C537-B3FE-E8F40FD4D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49B997D7-E0F9-F2BD-3518-D54DAA91AE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1B01E6B9-3BE7-BC57-E3AD-49A5EFC86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94165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532DC891-6F58-C51D-5F35-CA15CEA66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7b871a421_0_0:notes">
            <a:extLst>
              <a:ext uri="{FF2B5EF4-FFF2-40B4-BE49-F238E27FC236}">
                <a16:creationId xmlns:a16="http://schemas.microsoft.com/office/drawing/2014/main" id="{7D5F5C05-D4A7-82F1-29D9-A80BE595B6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7b871a421_0_0:notes">
            <a:extLst>
              <a:ext uri="{FF2B5EF4-FFF2-40B4-BE49-F238E27FC236}">
                <a16:creationId xmlns:a16="http://schemas.microsoft.com/office/drawing/2014/main" id="{841A245E-E1EA-3333-E2B0-06D9BA9E82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03198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5849E7B8-FE0E-DA73-7F2D-643D9FF66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7b871a421_0_0:notes">
            <a:extLst>
              <a:ext uri="{FF2B5EF4-FFF2-40B4-BE49-F238E27FC236}">
                <a16:creationId xmlns:a16="http://schemas.microsoft.com/office/drawing/2014/main" id="{E6571322-4868-2D89-0B67-6D8AB9DE9D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17b871a421_0_0:notes">
            <a:extLst>
              <a:ext uri="{FF2B5EF4-FFF2-40B4-BE49-F238E27FC236}">
                <a16:creationId xmlns:a16="http://schemas.microsoft.com/office/drawing/2014/main" id="{DD671708-6B12-F2C2-084A-CF78D7E1E8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9948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8" name="Google Shape;18;p3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9" name="Google Shape;19;p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" name="Google Shape;20;p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" name="Google Shape;51;p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2" name="Google Shape;52;p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" name="Google Shape;53;p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4" name="Google Shape;54;p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2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3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4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6" hasCustomPrompt="1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8" hasCustomPrompt="1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9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3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14" hasCustomPrompt="1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15" hasCustomPrompt="1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6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7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8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9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0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21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1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4" name="Google Shape;134;p1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5" name="Google Shape;135;p1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6" name="Google Shape;136;p1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7" name="Google Shape;137;p15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38" name="Google Shape;138;p15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9" name="Google Shape;139;p15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720000" y="1148563"/>
            <a:ext cx="3944700" cy="160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1"/>
          </p:nvPr>
        </p:nvSpPr>
        <p:spPr>
          <a:xfrm>
            <a:off x="720000" y="2878638"/>
            <a:ext cx="39447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5"/>
          <p:cNvSpPr>
            <a:spLocks noGrp="1"/>
          </p:cNvSpPr>
          <p:nvPr>
            <p:ph type="pic" idx="2"/>
          </p:nvPr>
        </p:nvSpPr>
        <p:spPr>
          <a:xfrm>
            <a:off x="5149825" y="691038"/>
            <a:ext cx="3070800" cy="37614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5" name="Google Shape;155;p17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6" name="Google Shape;156;p17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7" name="Google Shape;157;p17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59" name="Google Shape;159;p17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0" name="Google Shape;160;p17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61" name="Google Shape;16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subTitle" idx="1"/>
          </p:nvPr>
        </p:nvSpPr>
        <p:spPr>
          <a:xfrm>
            <a:off x="937625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2"/>
          </p:nvPr>
        </p:nvSpPr>
        <p:spPr>
          <a:xfrm>
            <a:off x="3484346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subTitle" idx="3"/>
          </p:nvPr>
        </p:nvSpPr>
        <p:spPr>
          <a:xfrm>
            <a:off x="6031074" y="30712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4"/>
          </p:nvPr>
        </p:nvSpPr>
        <p:spPr>
          <a:xfrm>
            <a:off x="937625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subTitle" idx="5"/>
          </p:nvPr>
        </p:nvSpPr>
        <p:spPr>
          <a:xfrm>
            <a:off x="3484347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ubTitle" idx="6"/>
          </p:nvPr>
        </p:nvSpPr>
        <p:spPr>
          <a:xfrm>
            <a:off x="6031075" y="2690250"/>
            <a:ext cx="2175300" cy="3657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0" name="Google Shape;170;p1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1" name="Google Shape;171;p1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2" name="Google Shape;172;p1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1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3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5" name="Google Shape;185;p1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6" name="Google Shape;186;p1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7" name="Google Shape;187;p1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88" name="Google Shape;188;p1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9" name="Google Shape;189;p19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0" name="Google Shape;190;p1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1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2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3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4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subTitle" idx="5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subTitle" idx="6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59" r:id="rId6"/>
    <p:sldLayoutId id="2147483661" r:id="rId7"/>
    <p:sldLayoutId id="2147483663" r:id="rId8"/>
    <p:sldLayoutId id="2147483664" r:id="rId9"/>
    <p:sldLayoutId id="2147483665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3200" dirty="0">
                <a:solidFill>
                  <a:schemeClr val="dk2"/>
                </a:solidFill>
              </a:rPr>
              <a:t>Ανάπτυξη Μεθοδολογίας Βελτιστοποίησης Θερμικής Άνεσης και Αξιοποίησης ΑΠΕ</a:t>
            </a:r>
            <a:endParaRPr sz="3200" dirty="0">
              <a:solidFill>
                <a:schemeClr val="dk2"/>
              </a:solidFill>
            </a:endParaRPr>
          </a:p>
        </p:txBody>
      </p:sp>
      <p:sp>
        <p:nvSpPr>
          <p:cNvPr id="286" name="Google Shape;286;p29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Κωνσταντίνος Περίφανος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87" name="Google Shape;287;p29"/>
          <p:cNvCxnSpPr/>
          <p:nvPr/>
        </p:nvCxnSpPr>
        <p:spPr>
          <a:xfrm rot="10800000" flipH="1">
            <a:off x="1609200" y="3387571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9"/>
          <p:cNvCxnSpPr/>
          <p:nvPr/>
        </p:nvCxnSpPr>
        <p:spPr>
          <a:xfrm rot="10800000" flipH="1">
            <a:off x="1600650" y="1569725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89" name="Google Shape;289;p29"/>
          <p:cNvSpPr/>
          <p:nvPr/>
        </p:nvSpPr>
        <p:spPr>
          <a:xfrm>
            <a:off x="1849084" y="17211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9"/>
          <p:cNvSpPr/>
          <p:nvPr/>
        </p:nvSpPr>
        <p:spPr>
          <a:xfrm>
            <a:off x="7055516" y="1689341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Περιεχόμενα</a:t>
            </a:r>
            <a:endParaRPr dirty="0"/>
          </a:p>
        </p:txBody>
      </p:sp>
      <p:sp>
        <p:nvSpPr>
          <p:cNvPr id="307" name="Google Shape;307;p31"/>
          <p:cNvSpPr txBox="1">
            <a:spLocks noGrp="1"/>
          </p:cNvSpPr>
          <p:nvPr>
            <p:ph type="subTitle" idx="1"/>
          </p:nvPr>
        </p:nvSpPr>
        <p:spPr>
          <a:xfrm>
            <a:off x="720000" y="2775850"/>
            <a:ext cx="2426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Σκοπός διπλωματικής και εισαγωγή</a:t>
            </a:r>
            <a:endParaRPr dirty="0"/>
          </a:p>
        </p:txBody>
      </p:sp>
      <p:sp>
        <p:nvSpPr>
          <p:cNvPr id="309" name="Google Shape;309;p31"/>
          <p:cNvSpPr txBox="1">
            <a:spLocks noGrp="1"/>
          </p:cNvSpPr>
          <p:nvPr>
            <p:ph type="subTitle" idx="4"/>
          </p:nvPr>
        </p:nvSpPr>
        <p:spPr>
          <a:xfrm>
            <a:off x="3365900" y="2775750"/>
            <a:ext cx="2426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Διάγραμμα και μεθοδολογία</a:t>
            </a:r>
            <a:endParaRPr dirty="0"/>
          </a:p>
        </p:txBody>
      </p:sp>
      <p:sp>
        <p:nvSpPr>
          <p:cNvPr id="310" name="Google Shape;310;p31"/>
          <p:cNvSpPr txBox="1">
            <a:spLocks noGrp="1"/>
          </p:cNvSpPr>
          <p:nvPr>
            <p:ph type="title" idx="5"/>
          </p:nvPr>
        </p:nvSpPr>
        <p:spPr>
          <a:xfrm>
            <a:off x="720000" y="1899013"/>
            <a:ext cx="656100" cy="4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3" name="Google Shape;313;p31"/>
          <p:cNvSpPr txBox="1">
            <a:spLocks noGrp="1"/>
          </p:cNvSpPr>
          <p:nvPr>
            <p:ph type="title" idx="8"/>
          </p:nvPr>
        </p:nvSpPr>
        <p:spPr>
          <a:xfrm>
            <a:off x="3365900" y="1899780"/>
            <a:ext cx="656100" cy="4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5" name="Google Shape;315;p31"/>
          <p:cNvSpPr txBox="1">
            <a:spLocks noGrp="1"/>
          </p:cNvSpPr>
          <p:nvPr>
            <p:ph type="subTitle" idx="13"/>
          </p:nvPr>
        </p:nvSpPr>
        <p:spPr>
          <a:xfrm>
            <a:off x="6004413" y="2775750"/>
            <a:ext cx="2426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Σύνοψη και μελλοντικές κατευθήνσεις</a:t>
            </a:r>
            <a:endParaRPr dirty="0"/>
          </a:p>
        </p:txBody>
      </p:sp>
      <p:sp>
        <p:nvSpPr>
          <p:cNvPr id="317" name="Google Shape;317;p31"/>
          <p:cNvSpPr txBox="1">
            <a:spLocks noGrp="1"/>
          </p:cNvSpPr>
          <p:nvPr>
            <p:ph type="title" idx="15"/>
          </p:nvPr>
        </p:nvSpPr>
        <p:spPr>
          <a:xfrm>
            <a:off x="6004413" y="1899780"/>
            <a:ext cx="656100" cy="4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8" name="Google Shape;318;p31"/>
          <p:cNvSpPr txBox="1">
            <a:spLocks noGrp="1"/>
          </p:cNvSpPr>
          <p:nvPr>
            <p:ph type="subTitle" idx="16"/>
          </p:nvPr>
        </p:nvSpPr>
        <p:spPr>
          <a:xfrm>
            <a:off x="720000" y="2352300"/>
            <a:ext cx="2423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Κίνητρο</a:t>
            </a:r>
            <a:endParaRPr dirty="0"/>
          </a:p>
        </p:txBody>
      </p:sp>
      <p:sp>
        <p:nvSpPr>
          <p:cNvPr id="321" name="Google Shape;321;p31"/>
          <p:cNvSpPr txBox="1">
            <a:spLocks noGrp="1"/>
          </p:cNvSpPr>
          <p:nvPr>
            <p:ph type="subTitle" idx="19"/>
          </p:nvPr>
        </p:nvSpPr>
        <p:spPr>
          <a:xfrm>
            <a:off x="3365900" y="2352300"/>
            <a:ext cx="2423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Διαδικασία</a:t>
            </a:r>
            <a:endParaRPr dirty="0"/>
          </a:p>
        </p:txBody>
      </p:sp>
      <p:sp>
        <p:nvSpPr>
          <p:cNvPr id="323" name="Google Shape;323;p31"/>
          <p:cNvSpPr txBox="1">
            <a:spLocks noGrp="1"/>
          </p:cNvSpPr>
          <p:nvPr>
            <p:ph type="subTitle" idx="21"/>
          </p:nvPr>
        </p:nvSpPr>
        <p:spPr>
          <a:xfrm>
            <a:off x="6004413" y="2352300"/>
            <a:ext cx="2423100" cy="43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Συμπεράσματα</a:t>
            </a:r>
            <a:endParaRPr dirty="0"/>
          </a:p>
        </p:txBody>
      </p:sp>
      <p:sp>
        <p:nvSpPr>
          <p:cNvPr id="324" name="Google Shape;324;p3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Κίνητρο</a:t>
            </a:r>
            <a:endParaRPr dirty="0"/>
          </a:p>
        </p:txBody>
      </p:sp>
      <p:sp>
        <p:nvSpPr>
          <p:cNvPr id="331" name="Google Shape;331;p32"/>
          <p:cNvSpPr txBox="1">
            <a:spLocks noGrp="1"/>
          </p:cNvSpPr>
          <p:nvPr>
            <p:ph type="title" idx="2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32" name="Google Shape;332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cxnSp>
        <p:nvCxnSpPr>
          <p:cNvPr id="333" name="Google Shape;333;p32"/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/>
          <p:cNvCxnSpPr/>
          <p:nvPr/>
        </p:nvCxnSpPr>
        <p:spPr>
          <a:xfrm rot="10800000" flipH="1">
            <a:off x="1600600" y="1714341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/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/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Σκοπός Διπλωματικής</a:t>
            </a:r>
            <a:endParaRPr dirty="0"/>
          </a:p>
        </p:txBody>
      </p:sp>
      <p:sp>
        <p:nvSpPr>
          <p:cNvPr id="342" name="Google Shape;342;p33"/>
          <p:cNvSpPr txBox="1">
            <a:spLocks noGrp="1"/>
          </p:cNvSpPr>
          <p:nvPr>
            <p:ph type="subTitle" idx="1"/>
          </p:nvPr>
        </p:nvSpPr>
        <p:spPr>
          <a:xfrm>
            <a:off x="720025" y="1610941"/>
            <a:ext cx="7703950" cy="16413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l-GR" dirty="0"/>
              <a:t>Η κλιματική αλλαγή και η αυξανόμενη διείσδυση των ΑΠΕ (ιδίως φωτοβολταϊκών) δημιουργούν ανάγκη για νέες στρατηγικές διαχείρισης κατανάλωσης, ώστε να επιτευχθούν διεθνείς κλιματικοί στόχοι.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l-GR" dirty="0"/>
              <a:t>Οικιακά κτίρια και HVAC συστήματα προσφέρουν τεράστιες δυνατότητες για εξοικονόμηση κόστους και αύξηση της αυτοκατανάλωσης, αλλά χρειάζονται κατάλληλη διαχείριση.</a:t>
            </a:r>
            <a:endParaRPr dirty="0"/>
          </a:p>
        </p:txBody>
      </p:sp>
      <p:sp>
        <p:nvSpPr>
          <p:cNvPr id="343" name="Google Shape;343;p33"/>
          <p:cNvSpPr txBox="1">
            <a:spLocks noGrp="1"/>
          </p:cNvSpPr>
          <p:nvPr>
            <p:ph type="subTitle" idx="2"/>
          </p:nvPr>
        </p:nvSpPr>
        <p:spPr>
          <a:xfrm>
            <a:off x="719975" y="3604835"/>
            <a:ext cx="7704000" cy="5947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l-GR" dirty="0"/>
              <a:t>Η θερμική άνεση αποτελεί κρίσιμο παράγοντα για την υγεία, την παραγωγικότητα και την απόδοση του ανθρώπου.</a:t>
            </a:r>
            <a:endParaRPr dirty="0"/>
          </a:p>
        </p:txBody>
      </p:sp>
      <p:sp>
        <p:nvSpPr>
          <p:cNvPr id="345" name="Google Shape;345;p33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Ενεργειακές Ανάγκες</a:t>
            </a:r>
            <a:endParaRPr dirty="0"/>
          </a:p>
        </p:txBody>
      </p:sp>
      <p:sp>
        <p:nvSpPr>
          <p:cNvPr id="346" name="Google Shape;346;p33"/>
          <p:cNvSpPr txBox="1">
            <a:spLocks noGrp="1"/>
          </p:cNvSpPr>
          <p:nvPr>
            <p:ph type="subTitle" idx="5"/>
          </p:nvPr>
        </p:nvSpPr>
        <p:spPr>
          <a:xfrm>
            <a:off x="719975" y="3183636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Αυτοματοποίηση και θερμική άνεση</a:t>
            </a:r>
            <a:endParaRPr dirty="0"/>
          </a:p>
        </p:txBody>
      </p:sp>
      <p:sp>
        <p:nvSpPr>
          <p:cNvPr id="348" name="Google Shape;348;p3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957C2B17-05E9-2729-A987-17970A18C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49DE90E1-0A88-EB72-7171-D7A7FEF0F0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Σκοπός Διπλωματικής</a:t>
            </a:r>
            <a:endParaRPr dirty="0"/>
          </a:p>
        </p:txBody>
      </p:sp>
      <p:sp>
        <p:nvSpPr>
          <p:cNvPr id="344" name="Google Shape;344;p33">
            <a:extLst>
              <a:ext uri="{FF2B5EF4-FFF2-40B4-BE49-F238E27FC236}">
                <a16:creationId xmlns:a16="http://schemas.microsoft.com/office/drawing/2014/main" id="{5347C85C-2117-5496-787C-525B5FC521D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0000" y="1872731"/>
            <a:ext cx="7704000" cy="25201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Έτσι, στόχος μας είναι να δημιουργήσουμε ένα πρωτοποριακό </a:t>
            </a:r>
            <a:r>
              <a:rPr lang="en-US" dirty="0"/>
              <a:t>pipeline</a:t>
            </a:r>
            <a:r>
              <a:rPr lang="el-GR" dirty="0"/>
              <a:t>,</a:t>
            </a:r>
            <a:r>
              <a:rPr lang="en-US" dirty="0"/>
              <a:t> </a:t>
            </a:r>
            <a:r>
              <a:rPr lang="el-GR" dirty="0"/>
              <a:t>το οποίο θα χρησιμοποιεί σύγχρονα εργαλεία μηχανικής μάθησης για την βελτίωση της θερμικής άνεσης</a:t>
            </a:r>
            <a:r>
              <a:rPr lang="en-US" dirty="0"/>
              <a:t>,</a:t>
            </a:r>
            <a:r>
              <a:rPr lang="el-GR" dirty="0"/>
              <a:t> καθώς και την βέλτιστη αξιοποίηση των ΑΠΕ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Θέτει γερά θεμέλια για ένα πράσινο μέλλον, με μειωμένους λογαριασμούς, υψηλή άνεση και όλα αυτά μέσω αυτοματοποιημένης διαδικασίας </a:t>
            </a:r>
            <a:endParaRPr dirty="0"/>
          </a:p>
        </p:txBody>
      </p:sp>
      <p:sp>
        <p:nvSpPr>
          <p:cNvPr id="347" name="Google Shape;347;p33">
            <a:extLst>
              <a:ext uri="{FF2B5EF4-FFF2-40B4-BE49-F238E27FC236}">
                <a16:creationId xmlns:a16="http://schemas.microsoft.com/office/drawing/2014/main" id="{352A8E35-18DD-BD9B-1B5C-B8E6B642F418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720000" y="1443862"/>
            <a:ext cx="7704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Βελτιστοποίηση</a:t>
            </a:r>
            <a:endParaRPr dirty="0"/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9AF46318-CF5D-352A-F703-AE0364A9D7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7091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332B9BCB-0C4B-28A6-A611-82EB20E1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2C9F32A3-E42C-EF07-07D7-ED775FC8A9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Διαδικασία</a:t>
            </a:r>
            <a:endParaRPr dirty="0"/>
          </a:p>
        </p:txBody>
      </p:sp>
      <p:sp>
        <p:nvSpPr>
          <p:cNvPr id="331" name="Google Shape;331;p32">
            <a:extLst>
              <a:ext uri="{FF2B5EF4-FFF2-40B4-BE49-F238E27FC236}">
                <a16:creationId xmlns:a16="http://schemas.microsoft.com/office/drawing/2014/main" id="{FE51F6B8-7760-4203-FDE0-B2889A77DD4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32" name="Google Shape;332;p32">
            <a:extLst>
              <a:ext uri="{FF2B5EF4-FFF2-40B4-BE49-F238E27FC236}">
                <a16:creationId xmlns:a16="http://schemas.microsoft.com/office/drawing/2014/main" id="{25664C09-44DE-9932-E43F-452F1EEC7B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cxnSp>
        <p:nvCxnSpPr>
          <p:cNvPr id="333" name="Google Shape;333;p32">
            <a:extLst>
              <a:ext uri="{FF2B5EF4-FFF2-40B4-BE49-F238E27FC236}">
                <a16:creationId xmlns:a16="http://schemas.microsoft.com/office/drawing/2014/main" id="{09721D9D-2DF3-114E-2D68-311D76B51BA2}"/>
              </a:ext>
            </a:extLst>
          </p:cNvPr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>
            <a:extLst>
              <a:ext uri="{FF2B5EF4-FFF2-40B4-BE49-F238E27FC236}">
                <a16:creationId xmlns:a16="http://schemas.microsoft.com/office/drawing/2014/main" id="{1DF6642B-3A59-5C77-330C-D73C08F50EAC}"/>
              </a:ext>
            </a:extLst>
          </p:cNvPr>
          <p:cNvCxnSpPr/>
          <p:nvPr/>
        </p:nvCxnSpPr>
        <p:spPr>
          <a:xfrm rot="10800000" flipH="1">
            <a:off x="1600600" y="1714341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D1C7B6A3-662F-F16C-BDFA-B064C035D1BE}"/>
              </a:ext>
            </a:extLst>
          </p:cNvPr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>
            <a:extLst>
              <a:ext uri="{FF2B5EF4-FFF2-40B4-BE49-F238E27FC236}">
                <a16:creationId xmlns:a16="http://schemas.microsoft.com/office/drawing/2014/main" id="{98EBB9F7-CB9F-09DE-88EC-2BF550DB52EE}"/>
              </a:ext>
            </a:extLst>
          </p:cNvPr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5684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953085" y="657818"/>
            <a:ext cx="2632800" cy="5473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Μεθοδολογία</a:t>
            </a:r>
            <a:endParaRPr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Google Shape;344;p33">
            <a:extLst>
              <a:ext uri="{FF2B5EF4-FFF2-40B4-BE49-F238E27FC236}">
                <a16:creationId xmlns:a16="http://schemas.microsoft.com/office/drawing/2014/main" id="{4A8B9C62-C533-F687-7D06-15FC7D8967DD}"/>
              </a:ext>
            </a:extLst>
          </p:cNvPr>
          <p:cNvSpPr txBox="1">
            <a:spLocks/>
          </p:cNvSpPr>
          <p:nvPr/>
        </p:nvSpPr>
        <p:spPr>
          <a:xfrm>
            <a:off x="414781" y="1338605"/>
            <a:ext cx="4157220" cy="31470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solidFill>
                  <a:srgbClr val="5C5C5F"/>
                </a:solidFill>
                <a:latin typeface="Mulish" panose="020B0604020202020204" charset="0"/>
              </a:rPr>
              <a:t>Προεπεξεργασία των δεδομένων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solidFill>
                  <a:srgbClr val="5C5C5F"/>
                </a:solidFill>
                <a:latin typeface="Mulish" panose="020B0604020202020204" charset="0"/>
              </a:rPr>
              <a:t>Μοντελοποίηση θερμικής άνεσης με μαθηματικούς τύπους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solidFill>
                  <a:srgbClr val="5C5C5F"/>
                </a:solidFill>
                <a:latin typeface="Mulish" panose="020B0604020202020204" charset="0"/>
              </a:rPr>
              <a:t>Δημιουργία</a:t>
            </a:r>
            <a:r>
              <a:rPr lang="en-US" dirty="0">
                <a:solidFill>
                  <a:srgbClr val="5C5C5F"/>
                </a:solidFill>
                <a:latin typeface="Mulish" panose="020B0604020202020204" charset="0"/>
              </a:rPr>
              <a:t> </a:t>
            </a:r>
            <a:r>
              <a:rPr lang="el-GR" dirty="0">
                <a:solidFill>
                  <a:srgbClr val="5C5C5F"/>
                </a:solidFill>
                <a:latin typeface="Mulish" panose="020B0604020202020204" charset="0"/>
              </a:rPr>
              <a:t>ενεργοποιήσεων θερμικής αντλίας (0 – </a:t>
            </a:r>
            <a:r>
              <a:rPr lang="en-US" dirty="0">
                <a:solidFill>
                  <a:srgbClr val="5C5C5F"/>
                </a:solidFill>
                <a:latin typeface="Mulish" panose="020B0604020202020204" charset="0"/>
              </a:rPr>
              <a:t>off, 1 – low, 2 – high)</a:t>
            </a:r>
            <a:r>
              <a:rPr lang="el-GR" dirty="0">
                <a:solidFill>
                  <a:srgbClr val="5C5C5F"/>
                </a:solidFill>
                <a:latin typeface="Mulish" panose="020B0604020202020204" charset="0"/>
              </a:rPr>
              <a:t>, είτε από ατόφια δεδομένα αντλίας, είτε με μη παρεμβατικό τρόπο σε περίπτωση που δεν υπάρχουν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solidFill>
                  <a:srgbClr val="5C5C5F"/>
                </a:solidFill>
                <a:latin typeface="Mulish" panose="020B0604020202020204" charset="0"/>
              </a:rPr>
              <a:t>Εκπαίδευση μοντέλων πρόβλεψης θερμοκρασίας και σχετικής υγρασίας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solidFill>
                  <a:srgbClr val="5C5C5F"/>
                </a:solidFill>
                <a:latin typeface="Mulish" panose="020B0604020202020204" charset="0"/>
              </a:rPr>
              <a:t>Χρήση των μοντέλων για 24ωρη πρόβλεψη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solidFill>
                  <a:srgbClr val="5C5C5F"/>
                </a:solidFill>
                <a:latin typeface="Mulish" panose="020B0604020202020204" charset="0"/>
              </a:rPr>
              <a:t>Βελτιστοποίηση με αλγορίθμους, ώστε να βρόυμε βέλτιστο πρόγραμμα </a:t>
            </a:r>
            <a:r>
              <a:rPr lang="en-US" dirty="0">
                <a:solidFill>
                  <a:srgbClr val="5C5C5F"/>
                </a:solidFill>
                <a:latin typeface="Mulish" panose="020B0604020202020204" charset="0"/>
              </a:rPr>
              <a:t>HVAC </a:t>
            </a:r>
            <a:r>
              <a:rPr lang="el-GR" dirty="0">
                <a:solidFill>
                  <a:srgbClr val="5C5C5F"/>
                </a:solidFill>
                <a:latin typeface="Mulish" panose="020B0604020202020204" charset="0"/>
              </a:rPr>
              <a:t>για τις επόμενες 24 ώρες</a:t>
            </a:r>
          </a:p>
        </p:txBody>
      </p:sp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77E56D2D-C967-B3B2-B503-5E99E3C9D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49" y="143319"/>
            <a:ext cx="4157221" cy="485686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0982240F-17EE-BFF7-6F6A-B51B24477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38B5AF06-B1EA-66FD-9BAA-11F6AA29F7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3" name="Picture 2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C12C0B1B-6607-3A00-E923-91384DD56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026" y="489255"/>
            <a:ext cx="2831947" cy="416499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05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>
          <a:extLst>
            <a:ext uri="{FF2B5EF4-FFF2-40B4-BE49-F238E27FC236}">
              <a16:creationId xmlns:a16="http://schemas.microsoft.com/office/drawing/2014/main" id="{126B743A-1749-9B72-C7C1-BC7ABC8C5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>
            <a:extLst>
              <a:ext uri="{FF2B5EF4-FFF2-40B4-BE49-F238E27FC236}">
                <a16:creationId xmlns:a16="http://schemas.microsoft.com/office/drawing/2014/main" id="{0BBC3F29-391A-CFFC-8F51-A7B77AA063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Προεπεξεργασία Δεδομένων</a:t>
            </a:r>
            <a:endParaRPr dirty="0"/>
          </a:p>
        </p:txBody>
      </p:sp>
      <p:sp>
        <p:nvSpPr>
          <p:cNvPr id="408" name="Google Shape;408;p40">
            <a:extLst>
              <a:ext uri="{FF2B5EF4-FFF2-40B4-BE49-F238E27FC236}">
                <a16:creationId xmlns:a16="http://schemas.microsoft.com/office/drawing/2014/main" id="{617E5BDE-E6AC-752C-FBEF-839A265959BC}"/>
              </a:ext>
            </a:extLst>
          </p:cNvPr>
          <p:cNvSpPr txBox="1"/>
          <p:nvPr/>
        </p:nvSpPr>
        <p:spPr>
          <a:xfrm>
            <a:off x="722491" y="1689200"/>
            <a:ext cx="25572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l-GR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Δεδομένα</a:t>
            </a:r>
            <a:endParaRPr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9" name="Google Shape;409;p40">
            <a:extLst>
              <a:ext uri="{FF2B5EF4-FFF2-40B4-BE49-F238E27FC236}">
                <a16:creationId xmlns:a16="http://schemas.microsoft.com/office/drawing/2014/main" id="{2A06C44B-A8E0-4530-99BE-2CECA7FF3FD3}"/>
              </a:ext>
            </a:extLst>
          </p:cNvPr>
          <p:cNvSpPr txBox="1"/>
          <p:nvPr/>
        </p:nvSpPr>
        <p:spPr>
          <a:xfrm>
            <a:off x="722450" y="2177300"/>
            <a:ext cx="2557200" cy="13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Φοιτητικές εστίες, Συρακούσες Νέα Υόρκη, πρόσφατα ανακαινισμένες με θερμική αντλία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7 μήνες δεδομένα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Κυρίως χειμερινή εποχή</a:t>
            </a:r>
            <a:endParaRPr lang="en-US"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7 </a:t>
            </a: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σπίτια προς διερεύνηση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20" name="Google Shape;420;p40">
            <a:extLst>
              <a:ext uri="{FF2B5EF4-FFF2-40B4-BE49-F238E27FC236}">
                <a16:creationId xmlns:a16="http://schemas.microsoft.com/office/drawing/2014/main" id="{6006C3D7-A29B-F557-568B-E4207A705A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cxnSp>
        <p:nvCxnSpPr>
          <p:cNvPr id="442" name="Google Shape;442;p40">
            <a:extLst>
              <a:ext uri="{FF2B5EF4-FFF2-40B4-BE49-F238E27FC236}">
                <a16:creationId xmlns:a16="http://schemas.microsoft.com/office/drawing/2014/main" id="{A6A45AC5-D23E-B4FC-771D-5E1E405CFB69}"/>
              </a:ext>
            </a:extLst>
          </p:cNvPr>
          <p:cNvCxnSpPr/>
          <p:nvPr/>
        </p:nvCxnSpPr>
        <p:spPr>
          <a:xfrm>
            <a:off x="3324586" y="1423434"/>
            <a:ext cx="0" cy="3004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4583EDE-CBBD-56AE-EB4F-5B001833B5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071" y="1423433"/>
            <a:ext cx="2735752" cy="3004201"/>
          </a:xfrm>
          <a:prstGeom prst="rect">
            <a:avLst/>
          </a:prstGeom>
          <a:noFill/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3" name="Google Shape;442;p40">
            <a:extLst>
              <a:ext uri="{FF2B5EF4-FFF2-40B4-BE49-F238E27FC236}">
                <a16:creationId xmlns:a16="http://schemas.microsoft.com/office/drawing/2014/main" id="{4D658443-C5AC-40CA-B696-EC8D39131145}"/>
              </a:ext>
            </a:extLst>
          </p:cNvPr>
          <p:cNvCxnSpPr/>
          <p:nvPr/>
        </p:nvCxnSpPr>
        <p:spPr>
          <a:xfrm>
            <a:off x="6692134" y="1423433"/>
            <a:ext cx="0" cy="3004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" name="Google Shape;409;p40">
            <a:extLst>
              <a:ext uri="{FF2B5EF4-FFF2-40B4-BE49-F238E27FC236}">
                <a16:creationId xmlns:a16="http://schemas.microsoft.com/office/drawing/2014/main" id="{472116D8-28D0-12D4-E035-09916DEE0C59}"/>
              </a:ext>
            </a:extLst>
          </p:cNvPr>
          <p:cNvSpPr txBox="1"/>
          <p:nvPr/>
        </p:nvSpPr>
        <p:spPr>
          <a:xfrm>
            <a:off x="7054644" y="2008636"/>
            <a:ext cx="1514349" cy="1831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Χαμηλές θερμοκρασίες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Υψηλή χρήση αντλίας τους χειμερινούς μήνες -&gt; θερμικό φορτίο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  <p:extLst>
      <p:ext uri="{BB962C8B-B14F-4D97-AF65-F5344CB8AC3E}">
        <p14:creationId xmlns:p14="http://schemas.microsoft.com/office/powerpoint/2010/main" val="2994029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>
          <a:extLst>
            <a:ext uri="{FF2B5EF4-FFF2-40B4-BE49-F238E27FC236}">
              <a16:creationId xmlns:a16="http://schemas.microsoft.com/office/drawing/2014/main" id="{08168247-99BF-7F44-6292-DA0D8D636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>
            <a:extLst>
              <a:ext uri="{FF2B5EF4-FFF2-40B4-BE49-F238E27FC236}">
                <a16:creationId xmlns:a16="http://schemas.microsoft.com/office/drawing/2014/main" id="{C3165104-1203-83F1-39ED-BCC28EA612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Θερμική Άνεση</a:t>
            </a:r>
            <a:endParaRPr dirty="0"/>
          </a:p>
        </p:txBody>
      </p:sp>
      <p:sp>
        <p:nvSpPr>
          <p:cNvPr id="408" name="Google Shape;408;p40">
            <a:extLst>
              <a:ext uri="{FF2B5EF4-FFF2-40B4-BE49-F238E27FC236}">
                <a16:creationId xmlns:a16="http://schemas.microsoft.com/office/drawing/2014/main" id="{0AF07422-B444-5700-6FA6-9E920B9B41F9}"/>
              </a:ext>
            </a:extLst>
          </p:cNvPr>
          <p:cNvSpPr txBox="1"/>
          <p:nvPr/>
        </p:nvSpPr>
        <p:spPr>
          <a:xfrm>
            <a:off x="618231" y="1353462"/>
            <a:ext cx="3584534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PMV-PPD </a:t>
            </a:r>
            <a:r>
              <a:rPr lang="el-GR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(Δείκτες)</a:t>
            </a:r>
            <a:endParaRPr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9" name="Google Shape;409;p40">
            <a:extLst>
              <a:ext uri="{FF2B5EF4-FFF2-40B4-BE49-F238E27FC236}">
                <a16:creationId xmlns:a16="http://schemas.microsoft.com/office/drawing/2014/main" id="{BCD97C50-DDF4-232E-A96C-AA8FAC87C8EB}"/>
              </a:ext>
            </a:extLst>
          </p:cNvPr>
          <p:cNvSpPr txBox="1"/>
          <p:nvPr/>
        </p:nvSpPr>
        <p:spPr>
          <a:xfrm>
            <a:off x="618232" y="1841562"/>
            <a:ext cx="3584534" cy="2586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1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PMV (Predicted Mean Vote): δείκτης που εκτιμά πώς αντιλαμβάνεται μια ομάδα ανθρώπων το θερμικό περιβάλλον (κλίμακα από –3 = πολύ κρύο έως +3 = πολύ ζεστό)</a:t>
            </a:r>
            <a:endParaRPr lang="en-US" sz="11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1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PPD (Predicted Percentage Dissatisfied): ποσοστό ατόμων που αναμένεται να μην είναι ικανοποιημένα σε συγκεκριμένες συνθήκες.</a:t>
            </a:r>
            <a:br>
              <a:rPr lang="en-US" sz="11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</a:br>
            <a:br>
              <a:rPr lang="en-US" sz="11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</a:br>
            <a:r>
              <a:rPr lang="el-GR" sz="11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Στη παρούσα διατριβή η θερμική άνεση μοντελοποιείται ως 100-</a:t>
            </a:r>
            <a:r>
              <a:rPr lang="en-US" sz="11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PPD</a:t>
            </a:r>
            <a:r>
              <a:rPr lang="el-GR" sz="11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, ώστε να συμβολίζει το ποσοστό ευχαρίστης.</a:t>
            </a:r>
            <a:endParaRPr sz="11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20" name="Google Shape;420;p40">
            <a:extLst>
              <a:ext uri="{FF2B5EF4-FFF2-40B4-BE49-F238E27FC236}">
                <a16:creationId xmlns:a16="http://schemas.microsoft.com/office/drawing/2014/main" id="{29C586F6-9080-D2F6-4460-21411A04BF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cxnSp>
        <p:nvCxnSpPr>
          <p:cNvPr id="442" name="Google Shape;442;p40">
            <a:extLst>
              <a:ext uri="{FF2B5EF4-FFF2-40B4-BE49-F238E27FC236}">
                <a16:creationId xmlns:a16="http://schemas.microsoft.com/office/drawing/2014/main" id="{C5A3F81B-1E45-8D61-4E73-B25F63E8B3A7}"/>
              </a:ext>
            </a:extLst>
          </p:cNvPr>
          <p:cNvCxnSpPr/>
          <p:nvPr/>
        </p:nvCxnSpPr>
        <p:spPr>
          <a:xfrm>
            <a:off x="4578352" y="1423433"/>
            <a:ext cx="0" cy="3004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1029" name="Picture 5" descr="What is PMV? What is PPD? Basics of Thermal Comfort | SimScale">
            <a:extLst>
              <a:ext uri="{FF2B5EF4-FFF2-40B4-BE49-F238E27FC236}">
                <a16:creationId xmlns:a16="http://schemas.microsoft.com/office/drawing/2014/main" id="{87B1C2B3-F9DC-0E75-F10D-4D484CA51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350" y="1881349"/>
            <a:ext cx="4009667" cy="2088368"/>
          </a:xfrm>
          <a:prstGeom prst="rect">
            <a:avLst/>
          </a:prstGeom>
          <a:noFill/>
          <a:ln>
            <a:solidFill>
              <a:schemeClr val="bg2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040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C1E75066-EF6D-2B21-A153-865E2907C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AEDE906A-9A19-A629-4615-E7F36BC6CF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4" name="Picture 3" descr="A diagram of a flowchart&#10;&#10;AI-generated content may be incorrect.">
            <a:extLst>
              <a:ext uri="{FF2B5EF4-FFF2-40B4-BE49-F238E27FC236}">
                <a16:creationId xmlns:a16="http://schemas.microsoft.com/office/drawing/2014/main" id="{58F43845-58DC-DC7E-B713-2B7F766E2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340" y="505075"/>
            <a:ext cx="4721320" cy="413334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5081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Δημιουργία </a:t>
            </a:r>
            <a:r>
              <a:rPr lang="en-US" dirty="0"/>
              <a:t>HVAC bins</a:t>
            </a:r>
            <a:endParaRPr dirty="0"/>
          </a:p>
        </p:txBody>
      </p:sp>
      <p:sp>
        <p:nvSpPr>
          <p:cNvPr id="463" name="Google Shape;463;p42"/>
          <p:cNvSpPr txBox="1">
            <a:spLocks noGrp="1"/>
          </p:cNvSpPr>
          <p:nvPr>
            <p:ph type="subTitle" idx="1"/>
          </p:nvPr>
        </p:nvSpPr>
        <p:spPr>
          <a:xfrm>
            <a:off x="913041" y="3282644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Διαχωρισμός με βάση τα δεδομένα της αντλίας</a:t>
            </a:r>
            <a:endParaRPr dirty="0"/>
          </a:p>
        </p:txBody>
      </p:sp>
      <p:sp>
        <p:nvSpPr>
          <p:cNvPr id="465" name="Google Shape;465;p42"/>
          <p:cNvSpPr txBox="1">
            <a:spLocks noGrp="1"/>
          </p:cNvSpPr>
          <p:nvPr>
            <p:ph type="subTitle" idx="3"/>
          </p:nvPr>
        </p:nvSpPr>
        <p:spPr>
          <a:xfrm>
            <a:off x="6006490" y="3282644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Χρήση μη επιβλεπόμενης τεχνικής</a:t>
            </a:r>
            <a:endParaRPr dirty="0"/>
          </a:p>
        </p:txBody>
      </p:sp>
      <p:sp>
        <p:nvSpPr>
          <p:cNvPr id="466" name="Google Shape;466;p42"/>
          <p:cNvSpPr txBox="1">
            <a:spLocks noGrp="1"/>
          </p:cNvSpPr>
          <p:nvPr>
            <p:ph type="subTitle" idx="4"/>
          </p:nvPr>
        </p:nvSpPr>
        <p:spPr>
          <a:xfrm>
            <a:off x="913041" y="2901644"/>
            <a:ext cx="21753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Ground truth</a:t>
            </a:r>
            <a:endParaRPr dirty="0"/>
          </a:p>
        </p:txBody>
      </p:sp>
      <p:sp>
        <p:nvSpPr>
          <p:cNvPr id="468" name="Google Shape;468;p42"/>
          <p:cNvSpPr txBox="1">
            <a:spLocks noGrp="1"/>
          </p:cNvSpPr>
          <p:nvPr>
            <p:ph type="subTitle" idx="6"/>
          </p:nvPr>
        </p:nvSpPr>
        <p:spPr>
          <a:xfrm>
            <a:off x="6006491" y="2901644"/>
            <a:ext cx="21753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Disaggregated</a:t>
            </a:r>
            <a:endParaRPr dirty="0"/>
          </a:p>
        </p:txBody>
      </p:sp>
      <p:sp>
        <p:nvSpPr>
          <p:cNvPr id="469" name="Google Shape;469;p4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3" name="Google Shape;409;p40">
            <a:extLst>
              <a:ext uri="{FF2B5EF4-FFF2-40B4-BE49-F238E27FC236}">
                <a16:creationId xmlns:a16="http://schemas.microsoft.com/office/drawing/2014/main" id="{D518438E-3EAD-2A6C-3825-D5E28BB92934}"/>
              </a:ext>
            </a:extLst>
          </p:cNvPr>
          <p:cNvSpPr txBox="1"/>
          <p:nvPr/>
        </p:nvSpPr>
        <p:spPr>
          <a:xfrm>
            <a:off x="720000" y="1102536"/>
            <a:ext cx="7704000" cy="530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2">
              <a:lnSpc>
                <a:spcPct val="115000"/>
              </a:lnSpc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Για να μελετήσουμε και να εφαρμόσουμε τη μεθοδολογία μας χρειαζόμαστε τα δεδομένα της αντλίας σε μορφή ενεργοποιήσεων, δηλαδή σε </a:t>
            </a:r>
            <a:r>
              <a:rPr lang="en-US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HVAC bins.</a:t>
            </a:r>
            <a:endParaRPr lang="el-GR"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lvl="2">
              <a:lnSpc>
                <a:spcPct val="115000"/>
              </a:lnSpc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Έχουμε 2 τρόπους για να επιτευχθεί αυτό</a:t>
            </a:r>
            <a:endParaRPr lang="en-US"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grpSp>
        <p:nvGrpSpPr>
          <p:cNvPr id="8" name="Google Shape;12440;p75">
            <a:extLst>
              <a:ext uri="{FF2B5EF4-FFF2-40B4-BE49-F238E27FC236}">
                <a16:creationId xmlns:a16="http://schemas.microsoft.com/office/drawing/2014/main" id="{24B2D258-2410-C1C9-673E-2BDA6ABA381C}"/>
              </a:ext>
            </a:extLst>
          </p:cNvPr>
          <p:cNvGrpSpPr/>
          <p:nvPr/>
        </p:nvGrpSpPr>
        <p:grpSpPr>
          <a:xfrm>
            <a:off x="1759555" y="2309597"/>
            <a:ext cx="482341" cy="404538"/>
            <a:chOff x="7500054" y="2934735"/>
            <a:chExt cx="350576" cy="280454"/>
          </a:xfrm>
          <a:solidFill>
            <a:srgbClr val="927C71"/>
          </a:solidFill>
        </p:grpSpPr>
        <p:sp>
          <p:nvSpPr>
            <p:cNvPr id="9" name="Google Shape;12441;p75">
              <a:extLst>
                <a:ext uri="{FF2B5EF4-FFF2-40B4-BE49-F238E27FC236}">
                  <a16:creationId xmlns:a16="http://schemas.microsoft.com/office/drawing/2014/main" id="{FAE9F1FA-7780-B873-5B12-84F08B3525EE}"/>
                </a:ext>
              </a:extLst>
            </p:cNvPr>
            <p:cNvSpPr/>
            <p:nvPr/>
          </p:nvSpPr>
          <p:spPr>
            <a:xfrm>
              <a:off x="7571671" y="2959371"/>
              <a:ext cx="191426" cy="10249"/>
            </a:xfrm>
            <a:custGeom>
              <a:avLst/>
              <a:gdLst/>
              <a:ahLst/>
              <a:cxnLst/>
              <a:rect l="l" t="t" r="r" b="b"/>
              <a:pathLst>
                <a:path w="6014" h="322" extrusionOk="0">
                  <a:moveTo>
                    <a:pt x="156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5847" y="322"/>
                  </a:lnTo>
                  <a:cubicBezTo>
                    <a:pt x="5930" y="322"/>
                    <a:pt x="6014" y="250"/>
                    <a:pt x="6014" y="167"/>
                  </a:cubicBezTo>
                  <a:cubicBezTo>
                    <a:pt x="6014" y="71"/>
                    <a:pt x="5930" y="0"/>
                    <a:pt x="5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442;p75">
              <a:extLst>
                <a:ext uri="{FF2B5EF4-FFF2-40B4-BE49-F238E27FC236}">
                  <a16:creationId xmlns:a16="http://schemas.microsoft.com/office/drawing/2014/main" id="{01F448C6-3E42-91BC-D685-E6E30559E3AF}"/>
                </a:ext>
              </a:extLst>
            </p:cNvPr>
            <p:cNvSpPr/>
            <p:nvPr/>
          </p:nvSpPr>
          <p:spPr>
            <a:xfrm>
              <a:off x="7500054" y="2934735"/>
              <a:ext cx="350576" cy="280454"/>
            </a:xfrm>
            <a:custGeom>
              <a:avLst/>
              <a:gdLst/>
              <a:ahLst/>
              <a:cxnLst/>
              <a:rect l="l" t="t" r="r" b="b"/>
              <a:pathLst>
                <a:path w="11014" h="8811" extrusionOk="0">
                  <a:moveTo>
                    <a:pt x="1501" y="310"/>
                  </a:moveTo>
                  <a:lnTo>
                    <a:pt x="1501" y="1560"/>
                  </a:lnTo>
                  <a:lnTo>
                    <a:pt x="310" y="1560"/>
                  </a:lnTo>
                  <a:lnTo>
                    <a:pt x="310" y="417"/>
                  </a:lnTo>
                  <a:cubicBezTo>
                    <a:pt x="310" y="357"/>
                    <a:pt x="358" y="310"/>
                    <a:pt x="417" y="310"/>
                  </a:cubicBezTo>
                  <a:close/>
                  <a:moveTo>
                    <a:pt x="8990" y="310"/>
                  </a:moveTo>
                  <a:cubicBezTo>
                    <a:pt x="9049" y="310"/>
                    <a:pt x="9097" y="357"/>
                    <a:pt x="9097" y="417"/>
                  </a:cubicBezTo>
                  <a:lnTo>
                    <a:pt x="9097" y="1560"/>
                  </a:lnTo>
                  <a:lnTo>
                    <a:pt x="1834" y="1560"/>
                  </a:lnTo>
                  <a:lnTo>
                    <a:pt x="1834" y="310"/>
                  </a:lnTo>
                  <a:close/>
                  <a:moveTo>
                    <a:pt x="10419" y="3453"/>
                  </a:moveTo>
                  <a:cubicBezTo>
                    <a:pt x="10561" y="3453"/>
                    <a:pt x="10704" y="3572"/>
                    <a:pt x="10704" y="3739"/>
                  </a:cubicBezTo>
                  <a:cubicBezTo>
                    <a:pt x="10704" y="3893"/>
                    <a:pt x="10561" y="4013"/>
                    <a:pt x="10419" y="4013"/>
                  </a:cubicBezTo>
                  <a:cubicBezTo>
                    <a:pt x="10264" y="4013"/>
                    <a:pt x="10133" y="3893"/>
                    <a:pt x="10133" y="3739"/>
                  </a:cubicBezTo>
                  <a:cubicBezTo>
                    <a:pt x="10133" y="3572"/>
                    <a:pt x="10252" y="3453"/>
                    <a:pt x="10419" y="3453"/>
                  </a:cubicBezTo>
                  <a:close/>
                  <a:moveTo>
                    <a:pt x="6537" y="4786"/>
                  </a:moveTo>
                  <a:cubicBezTo>
                    <a:pt x="6680" y="4786"/>
                    <a:pt x="6811" y="4906"/>
                    <a:pt x="6811" y="5072"/>
                  </a:cubicBezTo>
                  <a:cubicBezTo>
                    <a:pt x="6811" y="5239"/>
                    <a:pt x="6680" y="5358"/>
                    <a:pt x="6537" y="5358"/>
                  </a:cubicBezTo>
                  <a:cubicBezTo>
                    <a:pt x="6382" y="5358"/>
                    <a:pt x="6251" y="5239"/>
                    <a:pt x="6251" y="5072"/>
                  </a:cubicBezTo>
                  <a:cubicBezTo>
                    <a:pt x="6251" y="4906"/>
                    <a:pt x="6370" y="4786"/>
                    <a:pt x="6537" y="4786"/>
                  </a:cubicBezTo>
                  <a:close/>
                  <a:moveTo>
                    <a:pt x="8240" y="6156"/>
                  </a:moveTo>
                  <a:cubicBezTo>
                    <a:pt x="8394" y="6156"/>
                    <a:pt x="8525" y="6275"/>
                    <a:pt x="8525" y="6441"/>
                  </a:cubicBezTo>
                  <a:cubicBezTo>
                    <a:pt x="8525" y="6608"/>
                    <a:pt x="8394" y="6727"/>
                    <a:pt x="8240" y="6727"/>
                  </a:cubicBezTo>
                  <a:cubicBezTo>
                    <a:pt x="8097" y="6727"/>
                    <a:pt x="7966" y="6608"/>
                    <a:pt x="7966" y="6441"/>
                  </a:cubicBezTo>
                  <a:cubicBezTo>
                    <a:pt x="7966" y="6299"/>
                    <a:pt x="8073" y="6156"/>
                    <a:pt x="8240" y="6156"/>
                  </a:cubicBezTo>
                  <a:close/>
                  <a:moveTo>
                    <a:pt x="4811" y="6382"/>
                  </a:moveTo>
                  <a:cubicBezTo>
                    <a:pt x="4954" y="6382"/>
                    <a:pt x="5085" y="6501"/>
                    <a:pt x="5085" y="6668"/>
                  </a:cubicBezTo>
                  <a:cubicBezTo>
                    <a:pt x="5085" y="6834"/>
                    <a:pt x="4954" y="6953"/>
                    <a:pt x="4811" y="6953"/>
                  </a:cubicBezTo>
                  <a:cubicBezTo>
                    <a:pt x="4656" y="6953"/>
                    <a:pt x="4525" y="6834"/>
                    <a:pt x="4525" y="6668"/>
                  </a:cubicBezTo>
                  <a:cubicBezTo>
                    <a:pt x="4525" y="6501"/>
                    <a:pt x="4644" y="6382"/>
                    <a:pt x="4811" y="6382"/>
                  </a:cubicBezTo>
                  <a:close/>
                  <a:moveTo>
                    <a:pt x="417" y="0"/>
                  </a:moveTo>
                  <a:cubicBezTo>
                    <a:pt x="179" y="0"/>
                    <a:pt x="1" y="143"/>
                    <a:pt x="1" y="417"/>
                  </a:cubicBezTo>
                  <a:lnTo>
                    <a:pt x="1" y="8382"/>
                  </a:lnTo>
                  <a:cubicBezTo>
                    <a:pt x="1" y="8620"/>
                    <a:pt x="191" y="8787"/>
                    <a:pt x="417" y="8787"/>
                  </a:cubicBezTo>
                  <a:lnTo>
                    <a:pt x="4513" y="8787"/>
                  </a:lnTo>
                  <a:cubicBezTo>
                    <a:pt x="4596" y="8787"/>
                    <a:pt x="4668" y="8715"/>
                    <a:pt x="4668" y="8632"/>
                  </a:cubicBezTo>
                  <a:cubicBezTo>
                    <a:pt x="4668" y="8537"/>
                    <a:pt x="4596" y="8465"/>
                    <a:pt x="4513" y="8465"/>
                  </a:cubicBezTo>
                  <a:lnTo>
                    <a:pt x="417" y="8465"/>
                  </a:lnTo>
                  <a:cubicBezTo>
                    <a:pt x="358" y="8465"/>
                    <a:pt x="310" y="8418"/>
                    <a:pt x="310" y="8358"/>
                  </a:cubicBezTo>
                  <a:lnTo>
                    <a:pt x="310" y="1869"/>
                  </a:lnTo>
                  <a:lnTo>
                    <a:pt x="9073" y="1869"/>
                  </a:lnTo>
                  <a:lnTo>
                    <a:pt x="9073" y="5144"/>
                  </a:lnTo>
                  <a:lnTo>
                    <a:pt x="8502" y="5894"/>
                  </a:lnTo>
                  <a:cubicBezTo>
                    <a:pt x="8418" y="5846"/>
                    <a:pt x="8335" y="5834"/>
                    <a:pt x="8240" y="5834"/>
                  </a:cubicBezTo>
                  <a:cubicBezTo>
                    <a:pt x="8109" y="5834"/>
                    <a:pt x="7978" y="5870"/>
                    <a:pt x="7871" y="5965"/>
                  </a:cubicBezTo>
                  <a:lnTo>
                    <a:pt x="7073" y="5322"/>
                  </a:lnTo>
                  <a:cubicBezTo>
                    <a:pt x="7109" y="5251"/>
                    <a:pt x="7132" y="5156"/>
                    <a:pt x="7132" y="5060"/>
                  </a:cubicBezTo>
                  <a:cubicBezTo>
                    <a:pt x="7132" y="4727"/>
                    <a:pt x="6859" y="4441"/>
                    <a:pt x="6513" y="4441"/>
                  </a:cubicBezTo>
                  <a:cubicBezTo>
                    <a:pt x="6192" y="4441"/>
                    <a:pt x="5906" y="4715"/>
                    <a:pt x="5906" y="5060"/>
                  </a:cubicBezTo>
                  <a:cubicBezTo>
                    <a:pt x="5906" y="5167"/>
                    <a:pt x="5942" y="5263"/>
                    <a:pt x="5978" y="5358"/>
                  </a:cubicBezTo>
                  <a:lnTo>
                    <a:pt x="5108" y="6144"/>
                  </a:lnTo>
                  <a:cubicBezTo>
                    <a:pt x="5013" y="6084"/>
                    <a:pt x="4906" y="6049"/>
                    <a:pt x="4787" y="6049"/>
                  </a:cubicBezTo>
                  <a:cubicBezTo>
                    <a:pt x="4465" y="6049"/>
                    <a:pt x="4180" y="6322"/>
                    <a:pt x="4180" y="6668"/>
                  </a:cubicBezTo>
                  <a:cubicBezTo>
                    <a:pt x="4180" y="6989"/>
                    <a:pt x="4454" y="7275"/>
                    <a:pt x="4787" y="7275"/>
                  </a:cubicBezTo>
                  <a:cubicBezTo>
                    <a:pt x="5132" y="7275"/>
                    <a:pt x="5406" y="7001"/>
                    <a:pt x="5406" y="6668"/>
                  </a:cubicBezTo>
                  <a:cubicBezTo>
                    <a:pt x="5406" y="6560"/>
                    <a:pt x="5370" y="6465"/>
                    <a:pt x="5323" y="6382"/>
                  </a:cubicBezTo>
                  <a:lnTo>
                    <a:pt x="6204" y="5572"/>
                  </a:lnTo>
                  <a:cubicBezTo>
                    <a:pt x="6299" y="5620"/>
                    <a:pt x="6394" y="5656"/>
                    <a:pt x="6501" y="5656"/>
                  </a:cubicBezTo>
                  <a:cubicBezTo>
                    <a:pt x="6620" y="5656"/>
                    <a:pt x="6740" y="5620"/>
                    <a:pt x="6835" y="5548"/>
                  </a:cubicBezTo>
                  <a:lnTo>
                    <a:pt x="7644" y="6203"/>
                  </a:lnTo>
                  <a:cubicBezTo>
                    <a:pt x="7621" y="6263"/>
                    <a:pt x="7609" y="6334"/>
                    <a:pt x="7609" y="6406"/>
                  </a:cubicBezTo>
                  <a:cubicBezTo>
                    <a:pt x="7609" y="6739"/>
                    <a:pt x="7871" y="7025"/>
                    <a:pt x="8216" y="7025"/>
                  </a:cubicBezTo>
                  <a:cubicBezTo>
                    <a:pt x="8561" y="7025"/>
                    <a:pt x="8823" y="6751"/>
                    <a:pt x="8823" y="6406"/>
                  </a:cubicBezTo>
                  <a:cubicBezTo>
                    <a:pt x="8823" y="6287"/>
                    <a:pt x="8799" y="6168"/>
                    <a:pt x="8716" y="6084"/>
                  </a:cubicBezTo>
                  <a:lnTo>
                    <a:pt x="9061" y="5656"/>
                  </a:lnTo>
                  <a:lnTo>
                    <a:pt x="9061" y="8382"/>
                  </a:lnTo>
                  <a:cubicBezTo>
                    <a:pt x="9061" y="8442"/>
                    <a:pt x="9014" y="8477"/>
                    <a:pt x="8954" y="8477"/>
                  </a:cubicBezTo>
                  <a:lnTo>
                    <a:pt x="5227" y="8477"/>
                  </a:lnTo>
                  <a:cubicBezTo>
                    <a:pt x="5132" y="8477"/>
                    <a:pt x="5061" y="8561"/>
                    <a:pt x="5061" y="8644"/>
                  </a:cubicBezTo>
                  <a:cubicBezTo>
                    <a:pt x="5061" y="8739"/>
                    <a:pt x="5132" y="8811"/>
                    <a:pt x="5227" y="8811"/>
                  </a:cubicBezTo>
                  <a:lnTo>
                    <a:pt x="8954" y="8811"/>
                  </a:lnTo>
                  <a:cubicBezTo>
                    <a:pt x="9192" y="8811"/>
                    <a:pt x="9371" y="8620"/>
                    <a:pt x="9371" y="8394"/>
                  </a:cubicBezTo>
                  <a:lnTo>
                    <a:pt x="9371" y="5287"/>
                  </a:lnTo>
                  <a:lnTo>
                    <a:pt x="10145" y="4298"/>
                  </a:lnTo>
                  <a:cubicBezTo>
                    <a:pt x="10228" y="4334"/>
                    <a:pt x="10299" y="4346"/>
                    <a:pt x="10383" y="4346"/>
                  </a:cubicBezTo>
                  <a:cubicBezTo>
                    <a:pt x="10716" y="4346"/>
                    <a:pt x="10990" y="4072"/>
                    <a:pt x="10990" y="3739"/>
                  </a:cubicBezTo>
                  <a:cubicBezTo>
                    <a:pt x="11014" y="3405"/>
                    <a:pt x="10740" y="3131"/>
                    <a:pt x="10419" y="3131"/>
                  </a:cubicBezTo>
                  <a:cubicBezTo>
                    <a:pt x="10085" y="3131"/>
                    <a:pt x="9811" y="3405"/>
                    <a:pt x="9811" y="3751"/>
                  </a:cubicBezTo>
                  <a:cubicBezTo>
                    <a:pt x="9811" y="3882"/>
                    <a:pt x="9847" y="4001"/>
                    <a:pt x="9930" y="4108"/>
                  </a:cubicBezTo>
                  <a:lnTo>
                    <a:pt x="9407" y="4763"/>
                  </a:lnTo>
                  <a:lnTo>
                    <a:pt x="9407" y="381"/>
                  </a:lnTo>
                  <a:cubicBezTo>
                    <a:pt x="9407" y="191"/>
                    <a:pt x="9276" y="0"/>
                    <a:pt x="8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443;p75">
              <a:extLst>
                <a:ext uri="{FF2B5EF4-FFF2-40B4-BE49-F238E27FC236}">
                  <a16:creationId xmlns:a16="http://schemas.microsoft.com/office/drawing/2014/main" id="{F039F85C-81A0-F2A9-105F-7A8BB44335D3}"/>
                </a:ext>
              </a:extLst>
            </p:cNvPr>
            <p:cNvSpPr/>
            <p:nvPr/>
          </p:nvSpPr>
          <p:spPr>
            <a:xfrm>
              <a:off x="7539459" y="3074564"/>
              <a:ext cx="82663" cy="10249"/>
            </a:xfrm>
            <a:custGeom>
              <a:avLst/>
              <a:gdLst/>
              <a:ahLst/>
              <a:cxnLst/>
              <a:rect l="l" t="t" r="r" b="b"/>
              <a:pathLst>
                <a:path w="2597" h="322" extrusionOk="0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444;p75">
              <a:extLst>
                <a:ext uri="{FF2B5EF4-FFF2-40B4-BE49-F238E27FC236}">
                  <a16:creationId xmlns:a16="http://schemas.microsoft.com/office/drawing/2014/main" id="{DA48CC72-20D0-4EC0-00F2-05CE3D3E6E33}"/>
                </a:ext>
              </a:extLst>
            </p:cNvPr>
            <p:cNvSpPr/>
            <p:nvPr/>
          </p:nvSpPr>
          <p:spPr>
            <a:xfrm>
              <a:off x="7539459" y="3099582"/>
              <a:ext cx="82663" cy="10249"/>
            </a:xfrm>
            <a:custGeom>
              <a:avLst/>
              <a:gdLst/>
              <a:ahLst/>
              <a:cxnLst/>
              <a:rect l="l" t="t" r="r" b="b"/>
              <a:pathLst>
                <a:path w="2597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445;p75">
              <a:extLst>
                <a:ext uri="{FF2B5EF4-FFF2-40B4-BE49-F238E27FC236}">
                  <a16:creationId xmlns:a16="http://schemas.microsoft.com/office/drawing/2014/main" id="{B00E99B9-0CD7-73C3-A3D3-105AAB82B23C}"/>
                </a:ext>
              </a:extLst>
            </p:cNvPr>
            <p:cNvSpPr/>
            <p:nvPr/>
          </p:nvSpPr>
          <p:spPr>
            <a:xfrm>
              <a:off x="7539459" y="3124601"/>
              <a:ext cx="82663" cy="10631"/>
            </a:xfrm>
            <a:custGeom>
              <a:avLst/>
              <a:gdLst/>
              <a:ahLst/>
              <a:cxnLst/>
              <a:rect l="l" t="t" r="r" b="b"/>
              <a:pathLst>
                <a:path w="2597" h="334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446;p75">
              <a:extLst>
                <a:ext uri="{FF2B5EF4-FFF2-40B4-BE49-F238E27FC236}">
                  <a16:creationId xmlns:a16="http://schemas.microsoft.com/office/drawing/2014/main" id="{2A071795-8D6F-9DE4-D3A7-8E123DCC201D}"/>
                </a:ext>
              </a:extLst>
            </p:cNvPr>
            <p:cNvSpPr/>
            <p:nvPr/>
          </p:nvSpPr>
          <p:spPr>
            <a:xfrm>
              <a:off x="7539459" y="3149587"/>
              <a:ext cx="82663" cy="10663"/>
            </a:xfrm>
            <a:custGeom>
              <a:avLst/>
              <a:gdLst/>
              <a:ahLst/>
              <a:cxnLst/>
              <a:rect l="l" t="t" r="r" b="b"/>
              <a:pathLst>
                <a:path w="2597" h="335" extrusionOk="0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63"/>
                    <a:pt x="2596" y="168"/>
                  </a:cubicBezTo>
                  <a:cubicBezTo>
                    <a:pt x="2596" y="84"/>
                    <a:pt x="2525" y="1"/>
                    <a:pt x="24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447;p75">
              <a:extLst>
                <a:ext uri="{FF2B5EF4-FFF2-40B4-BE49-F238E27FC236}">
                  <a16:creationId xmlns:a16="http://schemas.microsoft.com/office/drawing/2014/main" id="{064F4E2D-3AA3-C73F-A99B-2FBE6B0FAE54}"/>
                </a:ext>
              </a:extLst>
            </p:cNvPr>
            <p:cNvSpPr/>
            <p:nvPr/>
          </p:nvSpPr>
          <p:spPr>
            <a:xfrm>
              <a:off x="7539459" y="3174988"/>
              <a:ext cx="82663" cy="10281"/>
            </a:xfrm>
            <a:custGeom>
              <a:avLst/>
              <a:gdLst/>
              <a:ahLst/>
              <a:cxnLst/>
              <a:rect l="l" t="t" r="r" b="b"/>
              <a:pathLst>
                <a:path w="2597" h="323" extrusionOk="0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448;p75">
              <a:extLst>
                <a:ext uri="{FF2B5EF4-FFF2-40B4-BE49-F238E27FC236}">
                  <a16:creationId xmlns:a16="http://schemas.microsoft.com/office/drawing/2014/main" id="{607390AB-D772-110A-B75D-DCF56432B8A9}"/>
                </a:ext>
              </a:extLst>
            </p:cNvPr>
            <p:cNvSpPr/>
            <p:nvPr/>
          </p:nvSpPr>
          <p:spPr>
            <a:xfrm>
              <a:off x="7539459" y="3011286"/>
              <a:ext cx="220614" cy="47395"/>
            </a:xfrm>
            <a:custGeom>
              <a:avLst/>
              <a:gdLst/>
              <a:ahLst/>
              <a:cxnLst/>
              <a:rect l="l" t="t" r="r" b="b"/>
              <a:pathLst>
                <a:path w="6931" h="1489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lnTo>
                    <a:pt x="1" y="1072"/>
                  </a:lnTo>
                  <a:cubicBezTo>
                    <a:pt x="1" y="1310"/>
                    <a:pt x="191" y="1488"/>
                    <a:pt x="418" y="1488"/>
                  </a:cubicBezTo>
                  <a:lnTo>
                    <a:pt x="3251" y="1488"/>
                  </a:lnTo>
                  <a:cubicBezTo>
                    <a:pt x="3346" y="1488"/>
                    <a:pt x="3418" y="1417"/>
                    <a:pt x="3418" y="1322"/>
                  </a:cubicBezTo>
                  <a:cubicBezTo>
                    <a:pt x="3418" y="1238"/>
                    <a:pt x="3346" y="1167"/>
                    <a:pt x="3251" y="1167"/>
                  </a:cubicBezTo>
                  <a:lnTo>
                    <a:pt x="418" y="1167"/>
                  </a:lnTo>
                  <a:cubicBezTo>
                    <a:pt x="358" y="1167"/>
                    <a:pt x="310" y="1119"/>
                    <a:pt x="310" y="1060"/>
                  </a:cubicBezTo>
                  <a:lnTo>
                    <a:pt x="310" y="405"/>
                  </a:lnTo>
                  <a:cubicBezTo>
                    <a:pt x="310" y="345"/>
                    <a:pt x="358" y="298"/>
                    <a:pt x="418" y="298"/>
                  </a:cubicBezTo>
                  <a:lnTo>
                    <a:pt x="6502" y="298"/>
                  </a:lnTo>
                  <a:cubicBezTo>
                    <a:pt x="6561" y="298"/>
                    <a:pt x="6609" y="345"/>
                    <a:pt x="6609" y="405"/>
                  </a:cubicBezTo>
                  <a:lnTo>
                    <a:pt x="6609" y="1060"/>
                  </a:lnTo>
                  <a:cubicBezTo>
                    <a:pt x="6609" y="1119"/>
                    <a:pt x="6561" y="1167"/>
                    <a:pt x="6502" y="1167"/>
                  </a:cubicBezTo>
                  <a:lnTo>
                    <a:pt x="4013" y="1167"/>
                  </a:lnTo>
                  <a:cubicBezTo>
                    <a:pt x="3930" y="1167"/>
                    <a:pt x="3847" y="1238"/>
                    <a:pt x="3847" y="1322"/>
                  </a:cubicBezTo>
                  <a:cubicBezTo>
                    <a:pt x="3847" y="1417"/>
                    <a:pt x="3930" y="1488"/>
                    <a:pt x="4013" y="1488"/>
                  </a:cubicBezTo>
                  <a:lnTo>
                    <a:pt x="6502" y="1488"/>
                  </a:lnTo>
                  <a:cubicBezTo>
                    <a:pt x="6740" y="1488"/>
                    <a:pt x="6918" y="1298"/>
                    <a:pt x="6918" y="1072"/>
                  </a:cubicBezTo>
                  <a:lnTo>
                    <a:pt x="6918" y="417"/>
                  </a:lnTo>
                  <a:cubicBezTo>
                    <a:pt x="6930" y="203"/>
                    <a:pt x="6740" y="0"/>
                    <a:pt x="65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1161;p72">
            <a:extLst>
              <a:ext uri="{FF2B5EF4-FFF2-40B4-BE49-F238E27FC236}">
                <a16:creationId xmlns:a16="http://schemas.microsoft.com/office/drawing/2014/main" id="{21C50F0F-CD0D-A541-52EC-F17F04D75AB8}"/>
              </a:ext>
            </a:extLst>
          </p:cNvPr>
          <p:cNvGrpSpPr/>
          <p:nvPr/>
        </p:nvGrpSpPr>
        <p:grpSpPr>
          <a:xfrm>
            <a:off x="7020007" y="2315999"/>
            <a:ext cx="433484" cy="420154"/>
            <a:chOff x="1331406" y="1513361"/>
            <a:chExt cx="301784" cy="348607"/>
          </a:xfrm>
          <a:solidFill>
            <a:srgbClr val="927C71"/>
          </a:solidFill>
        </p:grpSpPr>
        <p:sp>
          <p:nvSpPr>
            <p:cNvPr id="18" name="Google Shape;11162;p72">
              <a:extLst>
                <a:ext uri="{FF2B5EF4-FFF2-40B4-BE49-F238E27FC236}">
                  <a16:creationId xmlns:a16="http://schemas.microsoft.com/office/drawing/2014/main" id="{8F956427-DF58-EAB2-5576-6D6F625153BB}"/>
                </a:ext>
              </a:extLst>
            </p:cNvPr>
            <p:cNvSpPr/>
            <p:nvPr/>
          </p:nvSpPr>
          <p:spPr>
            <a:xfrm>
              <a:off x="1473237" y="1513361"/>
              <a:ext cx="159952" cy="169076"/>
            </a:xfrm>
            <a:custGeom>
              <a:avLst/>
              <a:gdLst/>
              <a:ahLst/>
              <a:cxnLst/>
              <a:rect l="l" t="t" r="r" b="b"/>
              <a:pathLst>
                <a:path w="5049" h="5337" extrusionOk="0">
                  <a:moveTo>
                    <a:pt x="2623" y="0"/>
                  </a:moveTo>
                  <a:cubicBezTo>
                    <a:pt x="2460" y="0"/>
                    <a:pt x="2295" y="17"/>
                    <a:pt x="2132" y="50"/>
                  </a:cubicBezTo>
                  <a:cubicBezTo>
                    <a:pt x="1489" y="169"/>
                    <a:pt x="941" y="538"/>
                    <a:pt x="584" y="1074"/>
                  </a:cubicBezTo>
                  <a:cubicBezTo>
                    <a:pt x="0" y="1943"/>
                    <a:pt x="36" y="3050"/>
                    <a:pt x="655" y="3884"/>
                  </a:cubicBezTo>
                  <a:lnTo>
                    <a:pt x="596" y="5170"/>
                  </a:lnTo>
                  <a:cubicBezTo>
                    <a:pt x="596" y="5229"/>
                    <a:pt x="631" y="5277"/>
                    <a:pt x="679" y="5300"/>
                  </a:cubicBezTo>
                  <a:cubicBezTo>
                    <a:pt x="703" y="5312"/>
                    <a:pt x="739" y="5336"/>
                    <a:pt x="762" y="5336"/>
                  </a:cubicBezTo>
                  <a:cubicBezTo>
                    <a:pt x="798" y="5336"/>
                    <a:pt x="810" y="5336"/>
                    <a:pt x="834" y="5312"/>
                  </a:cubicBezTo>
                  <a:lnTo>
                    <a:pt x="2001" y="4777"/>
                  </a:lnTo>
                  <a:cubicBezTo>
                    <a:pt x="2203" y="4836"/>
                    <a:pt x="2417" y="4860"/>
                    <a:pt x="2608" y="4860"/>
                  </a:cubicBezTo>
                  <a:cubicBezTo>
                    <a:pt x="3394" y="4860"/>
                    <a:pt x="4156" y="4467"/>
                    <a:pt x="4620" y="3765"/>
                  </a:cubicBezTo>
                  <a:cubicBezTo>
                    <a:pt x="4870" y="3395"/>
                    <a:pt x="5001" y="2967"/>
                    <a:pt x="5025" y="2514"/>
                  </a:cubicBezTo>
                  <a:cubicBezTo>
                    <a:pt x="5049" y="2431"/>
                    <a:pt x="4989" y="2360"/>
                    <a:pt x="4906" y="2360"/>
                  </a:cubicBezTo>
                  <a:cubicBezTo>
                    <a:pt x="4811" y="2360"/>
                    <a:pt x="4739" y="2431"/>
                    <a:pt x="4739" y="2503"/>
                  </a:cubicBezTo>
                  <a:cubicBezTo>
                    <a:pt x="4715" y="2895"/>
                    <a:pt x="4608" y="3265"/>
                    <a:pt x="4382" y="3586"/>
                  </a:cubicBezTo>
                  <a:cubicBezTo>
                    <a:pt x="3981" y="4183"/>
                    <a:pt x="3325" y="4524"/>
                    <a:pt x="2630" y="4524"/>
                  </a:cubicBezTo>
                  <a:cubicBezTo>
                    <a:pt x="2438" y="4524"/>
                    <a:pt x="2242" y="4498"/>
                    <a:pt x="2048" y="4443"/>
                  </a:cubicBezTo>
                  <a:cubicBezTo>
                    <a:pt x="2027" y="4433"/>
                    <a:pt x="2008" y="4427"/>
                    <a:pt x="1990" y="4427"/>
                  </a:cubicBezTo>
                  <a:cubicBezTo>
                    <a:pt x="1969" y="4427"/>
                    <a:pt x="1949" y="4435"/>
                    <a:pt x="1929" y="4455"/>
                  </a:cubicBezTo>
                  <a:lnTo>
                    <a:pt x="953" y="4919"/>
                  </a:lnTo>
                  <a:lnTo>
                    <a:pt x="1001" y="3848"/>
                  </a:lnTo>
                  <a:cubicBezTo>
                    <a:pt x="1001" y="3800"/>
                    <a:pt x="989" y="3765"/>
                    <a:pt x="977" y="3741"/>
                  </a:cubicBezTo>
                  <a:cubicBezTo>
                    <a:pt x="405" y="3026"/>
                    <a:pt x="358" y="2026"/>
                    <a:pt x="870" y="1252"/>
                  </a:cubicBezTo>
                  <a:cubicBezTo>
                    <a:pt x="1179" y="788"/>
                    <a:pt x="1655" y="467"/>
                    <a:pt x="2203" y="359"/>
                  </a:cubicBezTo>
                  <a:cubicBezTo>
                    <a:pt x="2344" y="332"/>
                    <a:pt x="2485" y="319"/>
                    <a:pt x="2624" y="319"/>
                  </a:cubicBezTo>
                  <a:cubicBezTo>
                    <a:pt x="3038" y="319"/>
                    <a:pt x="3439" y="437"/>
                    <a:pt x="3787" y="669"/>
                  </a:cubicBezTo>
                  <a:cubicBezTo>
                    <a:pt x="4227" y="967"/>
                    <a:pt x="4525" y="1419"/>
                    <a:pt x="4668" y="1919"/>
                  </a:cubicBezTo>
                  <a:cubicBezTo>
                    <a:pt x="4678" y="1998"/>
                    <a:pt x="4736" y="2044"/>
                    <a:pt x="4811" y="2044"/>
                  </a:cubicBezTo>
                  <a:cubicBezTo>
                    <a:pt x="4826" y="2044"/>
                    <a:pt x="4842" y="2042"/>
                    <a:pt x="4858" y="2038"/>
                  </a:cubicBezTo>
                  <a:cubicBezTo>
                    <a:pt x="4942" y="2026"/>
                    <a:pt x="4989" y="1943"/>
                    <a:pt x="4977" y="1848"/>
                  </a:cubicBezTo>
                  <a:cubicBezTo>
                    <a:pt x="4822" y="1252"/>
                    <a:pt x="4465" y="752"/>
                    <a:pt x="3965" y="407"/>
                  </a:cubicBezTo>
                  <a:cubicBezTo>
                    <a:pt x="3566" y="141"/>
                    <a:pt x="3100" y="0"/>
                    <a:pt x="26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163;p72">
              <a:extLst>
                <a:ext uri="{FF2B5EF4-FFF2-40B4-BE49-F238E27FC236}">
                  <a16:creationId xmlns:a16="http://schemas.microsoft.com/office/drawing/2014/main" id="{5847C0C1-77BE-5606-6BD3-EDC66491B474}"/>
                </a:ext>
              </a:extLst>
            </p:cNvPr>
            <p:cNvSpPr/>
            <p:nvPr/>
          </p:nvSpPr>
          <p:spPr>
            <a:xfrm>
              <a:off x="1331406" y="1579033"/>
              <a:ext cx="152412" cy="282934"/>
            </a:xfrm>
            <a:custGeom>
              <a:avLst/>
              <a:gdLst/>
              <a:ahLst/>
              <a:cxnLst/>
              <a:rect l="l" t="t" r="r" b="b"/>
              <a:pathLst>
                <a:path w="4811" h="8931" extrusionOk="0">
                  <a:moveTo>
                    <a:pt x="1132" y="310"/>
                  </a:moveTo>
                  <a:cubicBezTo>
                    <a:pt x="1203" y="310"/>
                    <a:pt x="1263" y="346"/>
                    <a:pt x="1310" y="382"/>
                  </a:cubicBezTo>
                  <a:cubicBezTo>
                    <a:pt x="1358" y="430"/>
                    <a:pt x="1382" y="501"/>
                    <a:pt x="1382" y="560"/>
                  </a:cubicBezTo>
                  <a:lnTo>
                    <a:pt x="1382" y="2073"/>
                  </a:lnTo>
                  <a:lnTo>
                    <a:pt x="858" y="2073"/>
                  </a:lnTo>
                  <a:lnTo>
                    <a:pt x="858" y="560"/>
                  </a:lnTo>
                  <a:cubicBezTo>
                    <a:pt x="870" y="430"/>
                    <a:pt x="977" y="310"/>
                    <a:pt x="1132" y="310"/>
                  </a:cubicBezTo>
                  <a:close/>
                  <a:moveTo>
                    <a:pt x="3644" y="310"/>
                  </a:moveTo>
                  <a:cubicBezTo>
                    <a:pt x="3727" y="310"/>
                    <a:pt x="3787" y="346"/>
                    <a:pt x="3823" y="382"/>
                  </a:cubicBezTo>
                  <a:cubicBezTo>
                    <a:pt x="3870" y="430"/>
                    <a:pt x="3906" y="501"/>
                    <a:pt x="3906" y="560"/>
                  </a:cubicBezTo>
                  <a:lnTo>
                    <a:pt x="3906" y="2073"/>
                  </a:lnTo>
                  <a:lnTo>
                    <a:pt x="3382" y="2073"/>
                  </a:lnTo>
                  <a:lnTo>
                    <a:pt x="3382" y="560"/>
                  </a:lnTo>
                  <a:cubicBezTo>
                    <a:pt x="3394" y="430"/>
                    <a:pt x="3513" y="310"/>
                    <a:pt x="3644" y="310"/>
                  </a:cubicBezTo>
                  <a:close/>
                  <a:moveTo>
                    <a:pt x="4454" y="2406"/>
                  </a:moveTo>
                  <a:lnTo>
                    <a:pt x="4454" y="2918"/>
                  </a:lnTo>
                  <a:lnTo>
                    <a:pt x="310" y="2918"/>
                  </a:lnTo>
                  <a:lnTo>
                    <a:pt x="310" y="2406"/>
                  </a:lnTo>
                  <a:close/>
                  <a:moveTo>
                    <a:pt x="2989" y="5513"/>
                  </a:moveTo>
                  <a:lnTo>
                    <a:pt x="2989" y="5978"/>
                  </a:lnTo>
                  <a:lnTo>
                    <a:pt x="1787" y="5978"/>
                  </a:lnTo>
                  <a:lnTo>
                    <a:pt x="1787" y="5513"/>
                  </a:lnTo>
                  <a:close/>
                  <a:moveTo>
                    <a:pt x="2846" y="6299"/>
                  </a:moveTo>
                  <a:lnTo>
                    <a:pt x="2846" y="6752"/>
                  </a:lnTo>
                  <a:lnTo>
                    <a:pt x="1930" y="6752"/>
                  </a:lnTo>
                  <a:lnTo>
                    <a:pt x="1930" y="6299"/>
                  </a:lnTo>
                  <a:close/>
                  <a:moveTo>
                    <a:pt x="1132" y="1"/>
                  </a:moveTo>
                  <a:cubicBezTo>
                    <a:pt x="798" y="1"/>
                    <a:pt x="548" y="263"/>
                    <a:pt x="548" y="572"/>
                  </a:cubicBezTo>
                  <a:lnTo>
                    <a:pt x="548" y="2084"/>
                  </a:lnTo>
                  <a:lnTo>
                    <a:pt x="167" y="2084"/>
                  </a:lnTo>
                  <a:cubicBezTo>
                    <a:pt x="72" y="2084"/>
                    <a:pt x="1" y="2156"/>
                    <a:pt x="1" y="2239"/>
                  </a:cubicBezTo>
                  <a:lnTo>
                    <a:pt x="1" y="3061"/>
                  </a:lnTo>
                  <a:cubicBezTo>
                    <a:pt x="1" y="3156"/>
                    <a:pt x="72" y="3227"/>
                    <a:pt x="167" y="3227"/>
                  </a:cubicBezTo>
                  <a:lnTo>
                    <a:pt x="203" y="3227"/>
                  </a:lnTo>
                  <a:lnTo>
                    <a:pt x="203" y="3823"/>
                  </a:lnTo>
                  <a:cubicBezTo>
                    <a:pt x="203" y="3847"/>
                    <a:pt x="227" y="3894"/>
                    <a:pt x="239" y="3930"/>
                  </a:cubicBezTo>
                  <a:lnTo>
                    <a:pt x="727" y="4537"/>
                  </a:lnTo>
                  <a:cubicBezTo>
                    <a:pt x="760" y="4576"/>
                    <a:pt x="807" y="4594"/>
                    <a:pt x="853" y="4594"/>
                  </a:cubicBezTo>
                  <a:cubicBezTo>
                    <a:pt x="890" y="4594"/>
                    <a:pt x="926" y="4582"/>
                    <a:pt x="953" y="4561"/>
                  </a:cubicBezTo>
                  <a:cubicBezTo>
                    <a:pt x="1025" y="4501"/>
                    <a:pt x="1025" y="4406"/>
                    <a:pt x="977" y="4347"/>
                  </a:cubicBezTo>
                  <a:lnTo>
                    <a:pt x="525" y="3775"/>
                  </a:lnTo>
                  <a:lnTo>
                    <a:pt x="525" y="3239"/>
                  </a:lnTo>
                  <a:lnTo>
                    <a:pt x="4239" y="3239"/>
                  </a:lnTo>
                  <a:lnTo>
                    <a:pt x="4239" y="3775"/>
                  </a:lnTo>
                  <a:lnTo>
                    <a:pt x="3084" y="5216"/>
                  </a:lnTo>
                  <a:lnTo>
                    <a:pt x="1691" y="5216"/>
                  </a:lnTo>
                  <a:lnTo>
                    <a:pt x="1429" y="4882"/>
                  </a:lnTo>
                  <a:cubicBezTo>
                    <a:pt x="1418" y="4847"/>
                    <a:pt x="1394" y="4835"/>
                    <a:pt x="1382" y="4823"/>
                  </a:cubicBezTo>
                  <a:cubicBezTo>
                    <a:pt x="1351" y="4797"/>
                    <a:pt x="1313" y="4785"/>
                    <a:pt x="1277" y="4785"/>
                  </a:cubicBezTo>
                  <a:cubicBezTo>
                    <a:pt x="1229" y="4785"/>
                    <a:pt x="1183" y="4806"/>
                    <a:pt x="1156" y="4847"/>
                  </a:cubicBezTo>
                  <a:cubicBezTo>
                    <a:pt x="1120" y="4906"/>
                    <a:pt x="1120" y="4978"/>
                    <a:pt x="1156" y="5037"/>
                  </a:cubicBezTo>
                  <a:lnTo>
                    <a:pt x="1489" y="5442"/>
                  </a:lnTo>
                  <a:lnTo>
                    <a:pt x="1489" y="6156"/>
                  </a:lnTo>
                  <a:cubicBezTo>
                    <a:pt x="1489" y="6252"/>
                    <a:pt x="1560" y="6311"/>
                    <a:pt x="1632" y="6323"/>
                  </a:cubicBezTo>
                  <a:lnTo>
                    <a:pt x="1632" y="6942"/>
                  </a:lnTo>
                  <a:cubicBezTo>
                    <a:pt x="1632" y="7037"/>
                    <a:pt x="1715" y="7109"/>
                    <a:pt x="1799" y="7109"/>
                  </a:cubicBezTo>
                  <a:lnTo>
                    <a:pt x="1834" y="7109"/>
                  </a:lnTo>
                  <a:lnTo>
                    <a:pt x="1834" y="8764"/>
                  </a:lnTo>
                  <a:cubicBezTo>
                    <a:pt x="1834" y="8859"/>
                    <a:pt x="1906" y="8931"/>
                    <a:pt x="1989" y="8931"/>
                  </a:cubicBezTo>
                  <a:lnTo>
                    <a:pt x="2846" y="8931"/>
                  </a:lnTo>
                  <a:cubicBezTo>
                    <a:pt x="2930" y="8931"/>
                    <a:pt x="3001" y="8859"/>
                    <a:pt x="3001" y="8764"/>
                  </a:cubicBezTo>
                  <a:lnTo>
                    <a:pt x="3001" y="8145"/>
                  </a:lnTo>
                  <a:cubicBezTo>
                    <a:pt x="3001" y="8050"/>
                    <a:pt x="2930" y="7978"/>
                    <a:pt x="2846" y="7978"/>
                  </a:cubicBezTo>
                  <a:cubicBezTo>
                    <a:pt x="2751" y="7978"/>
                    <a:pt x="2680" y="8050"/>
                    <a:pt x="2680" y="8145"/>
                  </a:cubicBezTo>
                  <a:lnTo>
                    <a:pt x="2680" y="8597"/>
                  </a:lnTo>
                  <a:lnTo>
                    <a:pt x="2156" y="8597"/>
                  </a:lnTo>
                  <a:lnTo>
                    <a:pt x="2156" y="7109"/>
                  </a:lnTo>
                  <a:lnTo>
                    <a:pt x="2680" y="7109"/>
                  </a:lnTo>
                  <a:lnTo>
                    <a:pt x="2680" y="7502"/>
                  </a:lnTo>
                  <a:cubicBezTo>
                    <a:pt x="2680" y="7585"/>
                    <a:pt x="2751" y="7669"/>
                    <a:pt x="2846" y="7669"/>
                  </a:cubicBezTo>
                  <a:cubicBezTo>
                    <a:pt x="2930" y="7669"/>
                    <a:pt x="3001" y="7585"/>
                    <a:pt x="3001" y="7502"/>
                  </a:cubicBezTo>
                  <a:lnTo>
                    <a:pt x="3001" y="7109"/>
                  </a:lnTo>
                  <a:lnTo>
                    <a:pt x="3037" y="7109"/>
                  </a:lnTo>
                  <a:cubicBezTo>
                    <a:pt x="3120" y="7109"/>
                    <a:pt x="3203" y="7037"/>
                    <a:pt x="3203" y="6954"/>
                  </a:cubicBezTo>
                  <a:lnTo>
                    <a:pt x="3203" y="6323"/>
                  </a:lnTo>
                  <a:cubicBezTo>
                    <a:pt x="3287" y="6323"/>
                    <a:pt x="3346" y="6252"/>
                    <a:pt x="3346" y="6156"/>
                  </a:cubicBezTo>
                  <a:lnTo>
                    <a:pt x="3346" y="5442"/>
                  </a:lnTo>
                  <a:lnTo>
                    <a:pt x="4573" y="3942"/>
                  </a:lnTo>
                  <a:cubicBezTo>
                    <a:pt x="4597" y="3906"/>
                    <a:pt x="4597" y="3882"/>
                    <a:pt x="4597" y="3835"/>
                  </a:cubicBezTo>
                  <a:lnTo>
                    <a:pt x="4597" y="3239"/>
                  </a:lnTo>
                  <a:lnTo>
                    <a:pt x="4644" y="3239"/>
                  </a:lnTo>
                  <a:cubicBezTo>
                    <a:pt x="4727" y="3239"/>
                    <a:pt x="4811" y="3168"/>
                    <a:pt x="4811" y="3073"/>
                  </a:cubicBezTo>
                  <a:lnTo>
                    <a:pt x="4811" y="2263"/>
                  </a:lnTo>
                  <a:cubicBezTo>
                    <a:pt x="4775" y="2156"/>
                    <a:pt x="4704" y="2084"/>
                    <a:pt x="4620" y="2084"/>
                  </a:cubicBezTo>
                  <a:lnTo>
                    <a:pt x="4227" y="2084"/>
                  </a:lnTo>
                  <a:lnTo>
                    <a:pt x="4227" y="584"/>
                  </a:lnTo>
                  <a:cubicBezTo>
                    <a:pt x="4227" y="430"/>
                    <a:pt x="4168" y="287"/>
                    <a:pt x="4061" y="156"/>
                  </a:cubicBezTo>
                  <a:cubicBezTo>
                    <a:pt x="3954" y="60"/>
                    <a:pt x="3811" y="1"/>
                    <a:pt x="3644" y="1"/>
                  </a:cubicBezTo>
                  <a:cubicBezTo>
                    <a:pt x="3323" y="1"/>
                    <a:pt x="3061" y="263"/>
                    <a:pt x="3061" y="572"/>
                  </a:cubicBezTo>
                  <a:lnTo>
                    <a:pt x="3061" y="2084"/>
                  </a:lnTo>
                  <a:lnTo>
                    <a:pt x="1715" y="2084"/>
                  </a:lnTo>
                  <a:lnTo>
                    <a:pt x="1715" y="572"/>
                  </a:lnTo>
                  <a:cubicBezTo>
                    <a:pt x="1715" y="430"/>
                    <a:pt x="1656" y="275"/>
                    <a:pt x="1549" y="156"/>
                  </a:cubicBezTo>
                  <a:cubicBezTo>
                    <a:pt x="1441" y="60"/>
                    <a:pt x="1298" y="1"/>
                    <a:pt x="11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164;p72">
              <a:extLst>
                <a:ext uri="{FF2B5EF4-FFF2-40B4-BE49-F238E27FC236}">
                  <a16:creationId xmlns:a16="http://schemas.microsoft.com/office/drawing/2014/main" id="{AF00EC33-D997-57E1-2523-ABF5E638DE7D}"/>
                </a:ext>
              </a:extLst>
            </p:cNvPr>
            <p:cNvSpPr/>
            <p:nvPr/>
          </p:nvSpPr>
          <p:spPr>
            <a:xfrm>
              <a:off x="1373667" y="1686935"/>
              <a:ext cx="66401" cy="10581"/>
            </a:xfrm>
            <a:custGeom>
              <a:avLst/>
              <a:gdLst/>
              <a:ahLst/>
              <a:cxnLst/>
              <a:rect l="l" t="t" r="r" b="b"/>
              <a:pathLst>
                <a:path w="2096" h="334" extrusionOk="0">
                  <a:moveTo>
                    <a:pt x="167" y="0"/>
                  </a:moveTo>
                  <a:cubicBezTo>
                    <a:pt x="84" y="0"/>
                    <a:pt x="0" y="72"/>
                    <a:pt x="0" y="167"/>
                  </a:cubicBezTo>
                  <a:cubicBezTo>
                    <a:pt x="0" y="250"/>
                    <a:pt x="84" y="333"/>
                    <a:pt x="167" y="333"/>
                  </a:cubicBezTo>
                  <a:lnTo>
                    <a:pt x="1929" y="333"/>
                  </a:lnTo>
                  <a:cubicBezTo>
                    <a:pt x="2012" y="333"/>
                    <a:pt x="2096" y="250"/>
                    <a:pt x="2096" y="167"/>
                  </a:cubicBezTo>
                  <a:cubicBezTo>
                    <a:pt x="2096" y="72"/>
                    <a:pt x="2012" y="0"/>
                    <a:pt x="19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165;p72">
              <a:extLst>
                <a:ext uri="{FF2B5EF4-FFF2-40B4-BE49-F238E27FC236}">
                  <a16:creationId xmlns:a16="http://schemas.microsoft.com/office/drawing/2014/main" id="{6779D8E3-59D5-AA9D-77A7-B6F2639F6E33}"/>
                </a:ext>
              </a:extLst>
            </p:cNvPr>
            <p:cNvSpPr/>
            <p:nvPr/>
          </p:nvSpPr>
          <p:spPr>
            <a:xfrm>
              <a:off x="1518508" y="1536044"/>
              <a:ext cx="72452" cy="112812"/>
            </a:xfrm>
            <a:custGeom>
              <a:avLst/>
              <a:gdLst/>
              <a:ahLst/>
              <a:cxnLst/>
              <a:rect l="l" t="t" r="r" b="b"/>
              <a:pathLst>
                <a:path w="2287" h="3561" extrusionOk="0">
                  <a:moveTo>
                    <a:pt x="1596" y="334"/>
                  </a:moveTo>
                  <a:lnTo>
                    <a:pt x="1024" y="1084"/>
                  </a:lnTo>
                  <a:cubicBezTo>
                    <a:pt x="1000" y="1132"/>
                    <a:pt x="988" y="1203"/>
                    <a:pt x="1012" y="1251"/>
                  </a:cubicBezTo>
                  <a:cubicBezTo>
                    <a:pt x="1048" y="1310"/>
                    <a:pt x="1107" y="1346"/>
                    <a:pt x="1167" y="1346"/>
                  </a:cubicBezTo>
                  <a:lnTo>
                    <a:pt x="1774" y="1346"/>
                  </a:lnTo>
                  <a:lnTo>
                    <a:pt x="893" y="2370"/>
                  </a:lnTo>
                  <a:lnTo>
                    <a:pt x="1167" y="1775"/>
                  </a:lnTo>
                  <a:cubicBezTo>
                    <a:pt x="1191" y="1727"/>
                    <a:pt x="1179" y="1667"/>
                    <a:pt x="1155" y="1620"/>
                  </a:cubicBezTo>
                  <a:cubicBezTo>
                    <a:pt x="1119" y="1584"/>
                    <a:pt x="1072" y="1548"/>
                    <a:pt x="1012" y="1548"/>
                  </a:cubicBezTo>
                  <a:lnTo>
                    <a:pt x="453" y="1548"/>
                  </a:lnTo>
                  <a:lnTo>
                    <a:pt x="1155" y="334"/>
                  </a:lnTo>
                  <a:close/>
                  <a:moveTo>
                    <a:pt x="1048" y="1"/>
                  </a:moveTo>
                  <a:cubicBezTo>
                    <a:pt x="988" y="1"/>
                    <a:pt x="941" y="24"/>
                    <a:pt x="917" y="72"/>
                  </a:cubicBezTo>
                  <a:lnTo>
                    <a:pt x="36" y="1620"/>
                  </a:lnTo>
                  <a:cubicBezTo>
                    <a:pt x="0" y="1667"/>
                    <a:pt x="0" y="1727"/>
                    <a:pt x="36" y="1787"/>
                  </a:cubicBezTo>
                  <a:cubicBezTo>
                    <a:pt x="60" y="1834"/>
                    <a:pt x="107" y="1858"/>
                    <a:pt x="167" y="1858"/>
                  </a:cubicBezTo>
                  <a:lnTo>
                    <a:pt x="762" y="1858"/>
                  </a:lnTo>
                  <a:lnTo>
                    <a:pt x="95" y="3322"/>
                  </a:lnTo>
                  <a:cubicBezTo>
                    <a:pt x="60" y="3394"/>
                    <a:pt x="95" y="3477"/>
                    <a:pt x="155" y="3525"/>
                  </a:cubicBezTo>
                  <a:cubicBezTo>
                    <a:pt x="179" y="3537"/>
                    <a:pt x="215" y="3561"/>
                    <a:pt x="238" y="3561"/>
                  </a:cubicBezTo>
                  <a:cubicBezTo>
                    <a:pt x="286" y="3561"/>
                    <a:pt x="334" y="3537"/>
                    <a:pt x="357" y="3501"/>
                  </a:cubicBezTo>
                  <a:lnTo>
                    <a:pt x="2203" y="1275"/>
                  </a:lnTo>
                  <a:cubicBezTo>
                    <a:pt x="2262" y="1227"/>
                    <a:pt x="2286" y="1167"/>
                    <a:pt x="2250" y="1108"/>
                  </a:cubicBezTo>
                  <a:cubicBezTo>
                    <a:pt x="2227" y="1048"/>
                    <a:pt x="2167" y="1013"/>
                    <a:pt x="2108" y="1013"/>
                  </a:cubicBezTo>
                  <a:lnTo>
                    <a:pt x="1477" y="1013"/>
                  </a:lnTo>
                  <a:lnTo>
                    <a:pt x="2048" y="251"/>
                  </a:lnTo>
                  <a:cubicBezTo>
                    <a:pt x="2072" y="203"/>
                    <a:pt x="2084" y="132"/>
                    <a:pt x="2060" y="84"/>
                  </a:cubicBezTo>
                  <a:cubicBezTo>
                    <a:pt x="2024" y="24"/>
                    <a:pt x="1965" y="1"/>
                    <a:pt x="1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19D7098B-E72B-0183-EF93-1C6DDA3382A9}"/>
              </a:ext>
            </a:extLst>
          </p:cNvPr>
          <p:cNvCxnSpPr>
            <a:cxnSpLocks/>
            <a:stCxn id="3" idx="2"/>
            <a:endCxn id="468" idx="0"/>
          </p:cNvCxnSpPr>
          <p:nvPr/>
        </p:nvCxnSpPr>
        <p:spPr>
          <a:xfrm rot="16200000" flipH="1">
            <a:off x="5198653" y="1006155"/>
            <a:ext cx="1268835" cy="25221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06FB6640-AAF4-5E65-BB03-0FC55FB416E0}"/>
              </a:ext>
            </a:extLst>
          </p:cNvPr>
          <p:cNvCxnSpPr>
            <a:cxnSpLocks/>
            <a:stCxn id="3" idx="2"/>
            <a:endCxn id="466" idx="0"/>
          </p:cNvCxnSpPr>
          <p:nvPr/>
        </p:nvCxnSpPr>
        <p:spPr>
          <a:xfrm rot="5400000">
            <a:off x="2651929" y="981572"/>
            <a:ext cx="1268835" cy="25713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Hypotheses</a:t>
            </a:r>
            <a:endParaRPr/>
          </a:p>
        </p:txBody>
      </p:sp>
      <p:sp>
        <p:nvSpPr>
          <p:cNvPr id="448" name="Google Shape;448;p41"/>
          <p:cNvSpPr txBox="1">
            <a:spLocks noGrp="1"/>
          </p:cNvSpPr>
          <p:nvPr>
            <p:ph type="subTitle" idx="1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50%</a:t>
            </a:r>
            <a:r>
              <a:rPr lang="el-GR" dirty="0"/>
              <a:t> τιμών ψηλότερες από μέσο -&gt; </a:t>
            </a:r>
            <a:r>
              <a:rPr lang="en-US" dirty="0"/>
              <a:t>high mode (2)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50% </a:t>
            </a:r>
            <a:r>
              <a:rPr lang="el-GR" dirty="0"/>
              <a:t>τιμών χαμηλότερες από μέσο -&gt; </a:t>
            </a:r>
            <a:r>
              <a:rPr lang="en-US" dirty="0"/>
              <a:t>low mode (1)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9" name="Google Shape;449;p41"/>
          <p:cNvSpPr txBox="1">
            <a:spLocks noGrp="1"/>
          </p:cNvSpPr>
          <p:nvPr>
            <p:ph type="subTitle" idx="2"/>
          </p:nvPr>
        </p:nvSpPr>
        <p:spPr>
          <a:xfrm>
            <a:off x="1381500" y="2870625"/>
            <a:ext cx="7042490" cy="15735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dirty="0"/>
              <a:t>Εξαγωγή βασικού φορτίου ημέρας από ήπιες μέρες (θερμοκρασιακά)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dirty="0"/>
              <a:t>Αφαίρεση ακραίων σπάνιων τιμών ολικού φορτίου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dirty="0"/>
              <a:t>Άφαίρεση του βασικόυ φορτίου από μέρες με πιθανοτικά ανοιχτή αντλία και ποσοστιαία κατηγοριοποιήση σε </a:t>
            </a:r>
            <a:r>
              <a:rPr lang="en-US" dirty="0"/>
              <a:t>bins -&gt; 0 – off, 1 – low, 2 – high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451" name="Google Shape;451;p41"/>
          <p:cNvSpPr/>
          <p:nvPr/>
        </p:nvSpPr>
        <p:spPr>
          <a:xfrm>
            <a:off x="720000" y="1340462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sz="21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2" name="Google Shape;452;p41"/>
          <p:cNvSpPr/>
          <p:nvPr/>
        </p:nvSpPr>
        <p:spPr>
          <a:xfrm>
            <a:off x="719866" y="2488464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endParaRPr sz="21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4" name="Google Shape;454;p41"/>
          <p:cNvSpPr txBox="1">
            <a:spLocks noGrp="1"/>
          </p:cNvSpPr>
          <p:nvPr>
            <p:ph type="subTitle" idx="4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Ground truth</a:t>
            </a:r>
            <a:endParaRPr dirty="0"/>
          </a:p>
        </p:txBody>
      </p:sp>
      <p:sp>
        <p:nvSpPr>
          <p:cNvPr id="455" name="Google Shape;455;p41"/>
          <p:cNvSpPr txBox="1">
            <a:spLocks noGrp="1"/>
          </p:cNvSpPr>
          <p:nvPr>
            <p:ph type="subTitle" idx="5"/>
          </p:nvPr>
        </p:nvSpPr>
        <p:spPr>
          <a:xfrm>
            <a:off x="1381490" y="2536175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Disaggregated</a:t>
            </a:r>
            <a:endParaRPr dirty="0"/>
          </a:p>
        </p:txBody>
      </p:sp>
      <p:sp>
        <p:nvSpPr>
          <p:cNvPr id="457" name="Google Shape;457;p4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7" name="Google Shape;448;p41">
            <a:extLst>
              <a:ext uri="{FF2B5EF4-FFF2-40B4-BE49-F238E27FC236}">
                <a16:creationId xmlns:a16="http://schemas.microsoft.com/office/drawing/2014/main" id="{EF23C929-925D-0812-E3B2-12E3F8F314D0}"/>
              </a:ext>
            </a:extLst>
          </p:cNvPr>
          <p:cNvSpPr txBox="1">
            <a:spLocks/>
          </p:cNvSpPr>
          <p:nvPr/>
        </p:nvSpPr>
        <p:spPr>
          <a:xfrm>
            <a:off x="719866" y="4075471"/>
            <a:ext cx="7042490" cy="38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indent="0"/>
            <a:r>
              <a:rPr lang="el-GR" dirty="0"/>
              <a:t>Έτσι έχουμε 2 σετ δεδομένων</a:t>
            </a:r>
            <a:r>
              <a:rPr lang="en-US" dirty="0"/>
              <a:t>: </a:t>
            </a:r>
            <a:r>
              <a:rPr lang="el-GR" dirty="0"/>
              <a:t>με </a:t>
            </a:r>
            <a:r>
              <a:rPr lang="en-US" dirty="0" err="1"/>
              <a:t>hvac_mode</a:t>
            </a:r>
            <a:r>
              <a:rPr lang="en-US" dirty="0"/>
              <a:t> </a:t>
            </a:r>
            <a:r>
              <a:rPr lang="el-GR" dirty="0"/>
              <a:t>αληθινό και </a:t>
            </a:r>
            <a:r>
              <a:rPr lang="en-US" dirty="0" err="1"/>
              <a:t>hvac_mode</a:t>
            </a:r>
            <a:r>
              <a:rPr lang="en-US" dirty="0"/>
              <a:t> </a:t>
            </a:r>
            <a:r>
              <a:rPr lang="el-GR" dirty="0"/>
              <a:t>αποσυνθεμένο</a:t>
            </a:r>
            <a:r>
              <a:rPr lang="en-US" dirty="0"/>
              <a:t> (disaggregated)</a:t>
            </a:r>
            <a:endParaRPr lang="el-GR" dirty="0"/>
          </a:p>
          <a:p>
            <a:pPr marL="0" indent="0"/>
            <a:endParaRPr lang="el-G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Αποτελέσματα αποσύνθεσης</a:t>
            </a:r>
            <a:endParaRPr dirty="0"/>
          </a:p>
        </p:txBody>
      </p:sp>
      <p:sp>
        <p:nvSpPr>
          <p:cNvPr id="409" name="Google Shape;409;p40"/>
          <p:cNvSpPr txBox="1"/>
          <p:nvPr/>
        </p:nvSpPr>
        <p:spPr>
          <a:xfrm>
            <a:off x="668587" y="1789015"/>
            <a:ext cx="3903412" cy="156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Παραγόμενος πίνακας ακρίβειας από τον μέσο όρο και των 7 σπιτιών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l-GR"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Υψηλή ακρίβεια σε προβλέψεις </a:t>
            </a:r>
            <a:r>
              <a:rPr lang="en-US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high/off </a:t>
            </a: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της αντλίας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Δυσκολία διαχωρισμού μικρών τιμών ενέργειας από </a:t>
            </a:r>
            <a:r>
              <a:rPr lang="en-US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off/low transition</a:t>
            </a:r>
          </a:p>
        </p:txBody>
      </p:sp>
      <p:sp>
        <p:nvSpPr>
          <p:cNvPr id="420" name="Google Shape;420;p40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cxnSp>
        <p:nvCxnSpPr>
          <p:cNvPr id="442" name="Google Shape;442;p40"/>
          <p:cNvCxnSpPr/>
          <p:nvPr/>
        </p:nvCxnSpPr>
        <p:spPr>
          <a:xfrm>
            <a:off x="381051" y="1241640"/>
            <a:ext cx="0" cy="3004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4" name="Picture 3" descr="A graph of a graph showing different numbers&#10;&#10;AI-generated content may be incorrect.">
            <a:extLst>
              <a:ext uri="{FF2B5EF4-FFF2-40B4-BE49-F238E27FC236}">
                <a16:creationId xmlns:a16="http://schemas.microsoft.com/office/drawing/2014/main" id="{8B7F58BC-D6F2-2977-B1F0-6FA756D4D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046" y="1262754"/>
            <a:ext cx="3554366" cy="296197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7BE5DC9C-7A94-3500-ECF3-D6F29B646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00E410B5-673E-4B1F-1186-7BA7930ED8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4" name="Picture 3" descr="A diagram of a forecast&#10;&#10;AI-generated content may be incorrect.">
            <a:extLst>
              <a:ext uri="{FF2B5EF4-FFF2-40B4-BE49-F238E27FC236}">
                <a16:creationId xmlns:a16="http://schemas.microsoft.com/office/drawing/2014/main" id="{A25D2F87-4397-67A5-1C5B-1FD27E0CD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011" y="600910"/>
            <a:ext cx="4025977" cy="400196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4132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CF03A6D0-80A4-231E-0D27-CE814E9CB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>
            <a:extLst>
              <a:ext uri="{FF2B5EF4-FFF2-40B4-BE49-F238E27FC236}">
                <a16:creationId xmlns:a16="http://schemas.microsoft.com/office/drawing/2014/main" id="{36D0517A-7B1C-468D-0784-F515D9CE01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Μοντέλα Πρόβλεψης</a:t>
            </a:r>
            <a:endParaRPr dirty="0"/>
          </a:p>
        </p:txBody>
      </p:sp>
      <p:sp>
        <p:nvSpPr>
          <p:cNvPr id="448" name="Google Shape;448;p41">
            <a:extLst>
              <a:ext uri="{FF2B5EF4-FFF2-40B4-BE49-F238E27FC236}">
                <a16:creationId xmlns:a16="http://schemas.microsoft.com/office/drawing/2014/main" id="{00FFF10D-30C4-CD91-1211-A933944FF3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TCN </a:t>
            </a:r>
            <a:r>
              <a:rPr lang="el-GR" dirty="0"/>
              <a:t>αρχιτεκτονική</a:t>
            </a:r>
            <a:endParaRPr dirty="0"/>
          </a:p>
        </p:txBody>
      </p:sp>
      <p:sp>
        <p:nvSpPr>
          <p:cNvPr id="449" name="Google Shape;449;p41">
            <a:extLst>
              <a:ext uri="{FF2B5EF4-FFF2-40B4-BE49-F238E27FC236}">
                <a16:creationId xmlns:a16="http://schemas.microsoft.com/office/drawing/2014/main" id="{A7EFCC66-9584-831C-15B1-790EEFC0361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Random Forest </a:t>
            </a:r>
            <a:r>
              <a:rPr lang="el-GR" dirty="0"/>
              <a:t>αρχιτεκτονική</a:t>
            </a:r>
            <a:endParaRPr dirty="0"/>
          </a:p>
        </p:txBody>
      </p:sp>
      <p:sp>
        <p:nvSpPr>
          <p:cNvPr id="450" name="Google Shape;450;p41">
            <a:extLst>
              <a:ext uri="{FF2B5EF4-FFF2-40B4-BE49-F238E27FC236}">
                <a16:creationId xmlns:a16="http://schemas.microsoft.com/office/drawing/2014/main" id="{B9171AB0-B45E-D444-2828-143C71B5454E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CNN-LSTM  </a:t>
            </a:r>
            <a:r>
              <a:rPr lang="el-GR" dirty="0"/>
              <a:t>για πρόβλεψη απόλυτης υγρασίας και έπειτα μετατροπή σε σχετική με μαθηματικούς τύπους</a:t>
            </a:r>
            <a:endParaRPr dirty="0"/>
          </a:p>
        </p:txBody>
      </p:sp>
      <p:sp>
        <p:nvSpPr>
          <p:cNvPr id="451" name="Google Shape;451;p41">
            <a:extLst>
              <a:ext uri="{FF2B5EF4-FFF2-40B4-BE49-F238E27FC236}">
                <a16:creationId xmlns:a16="http://schemas.microsoft.com/office/drawing/2014/main" id="{3AF74F18-D321-4502-8AE1-D2C5DB557F2E}"/>
              </a:ext>
            </a:extLst>
          </p:cNvPr>
          <p:cNvSpPr/>
          <p:nvPr/>
        </p:nvSpPr>
        <p:spPr>
          <a:xfrm>
            <a:off x="720000" y="1340462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sz="21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2" name="Google Shape;452;p41">
            <a:extLst>
              <a:ext uri="{FF2B5EF4-FFF2-40B4-BE49-F238E27FC236}">
                <a16:creationId xmlns:a16="http://schemas.microsoft.com/office/drawing/2014/main" id="{DD98C66C-ADAC-CB57-4D91-C1AE2C7A5AE4}"/>
              </a:ext>
            </a:extLst>
          </p:cNvPr>
          <p:cNvSpPr/>
          <p:nvPr/>
        </p:nvSpPr>
        <p:spPr>
          <a:xfrm>
            <a:off x="720001" y="2478864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endParaRPr sz="21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3" name="Google Shape;453;p41">
            <a:extLst>
              <a:ext uri="{FF2B5EF4-FFF2-40B4-BE49-F238E27FC236}">
                <a16:creationId xmlns:a16="http://schemas.microsoft.com/office/drawing/2014/main" id="{B8FA4911-B509-034F-58D9-480034AB8642}"/>
              </a:ext>
            </a:extLst>
          </p:cNvPr>
          <p:cNvSpPr/>
          <p:nvPr/>
        </p:nvSpPr>
        <p:spPr>
          <a:xfrm>
            <a:off x="719999" y="3617286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3</a:t>
            </a:r>
            <a:endParaRPr sz="21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4" name="Google Shape;454;p41">
            <a:extLst>
              <a:ext uri="{FF2B5EF4-FFF2-40B4-BE49-F238E27FC236}">
                <a16:creationId xmlns:a16="http://schemas.microsoft.com/office/drawing/2014/main" id="{7859D562-C25F-454A-D8A5-6F1F8E6C56F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Θερμοκρασίας για </a:t>
            </a:r>
            <a:r>
              <a:rPr lang="en-US" dirty="0" err="1"/>
              <a:t>hvac</a:t>
            </a:r>
            <a:r>
              <a:rPr lang="en-US" dirty="0"/>
              <a:t> off</a:t>
            </a:r>
            <a:endParaRPr dirty="0"/>
          </a:p>
        </p:txBody>
      </p:sp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E12290E5-8C55-8F07-AAF3-D6FFF5F69AEE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l-GR" dirty="0"/>
              <a:t>Θερμοκρασίας για </a:t>
            </a:r>
            <a:r>
              <a:rPr lang="en-US" dirty="0" err="1"/>
              <a:t>hvac</a:t>
            </a:r>
            <a:r>
              <a:rPr lang="en-US" dirty="0"/>
              <a:t> on</a:t>
            </a:r>
          </a:p>
        </p:txBody>
      </p:sp>
      <p:sp>
        <p:nvSpPr>
          <p:cNvPr id="456" name="Google Shape;456;p41">
            <a:extLst>
              <a:ext uri="{FF2B5EF4-FFF2-40B4-BE49-F238E27FC236}">
                <a16:creationId xmlns:a16="http://schemas.microsoft.com/office/drawing/2014/main" id="{1F6C4A08-7D70-E2E0-A721-691AF9DFBD39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Σχετικής υγρασίας</a:t>
            </a:r>
            <a:endParaRPr dirty="0"/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8D3AAEC8-619C-9784-57AA-3A3D188C5D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8649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>
          <a:extLst>
            <a:ext uri="{FF2B5EF4-FFF2-40B4-BE49-F238E27FC236}">
              <a16:creationId xmlns:a16="http://schemas.microsoft.com/office/drawing/2014/main" id="{991ACCBD-5C02-7003-9E55-DAAE2E515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>
            <a:extLst>
              <a:ext uri="{FF2B5EF4-FFF2-40B4-BE49-F238E27FC236}">
                <a16:creationId xmlns:a16="http://schemas.microsoft.com/office/drawing/2014/main" id="{C9B4131A-86A4-982A-4C0A-BD03130031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TCN</a:t>
            </a:r>
            <a:endParaRPr dirty="0"/>
          </a:p>
        </p:txBody>
      </p:sp>
      <p:sp>
        <p:nvSpPr>
          <p:cNvPr id="420" name="Google Shape;420;p40">
            <a:extLst>
              <a:ext uri="{FF2B5EF4-FFF2-40B4-BE49-F238E27FC236}">
                <a16:creationId xmlns:a16="http://schemas.microsoft.com/office/drawing/2014/main" id="{BF1183C4-5BF0-2C42-1485-0F3359E3C8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3" name="Picture 2" descr="A graph with blue and yellow bars&#10;&#10;AI-generated content may be incorrect.">
            <a:extLst>
              <a:ext uri="{FF2B5EF4-FFF2-40B4-BE49-F238E27FC236}">
                <a16:creationId xmlns:a16="http://schemas.microsoft.com/office/drawing/2014/main" id="{F4E4ECAF-3F10-318B-F425-6B4D444DA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77" y="1474327"/>
            <a:ext cx="7901446" cy="219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284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>
          <a:extLst>
            <a:ext uri="{FF2B5EF4-FFF2-40B4-BE49-F238E27FC236}">
              <a16:creationId xmlns:a16="http://schemas.microsoft.com/office/drawing/2014/main" id="{719A22E6-B8ED-DA38-B482-E9A7C1860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>
            <a:extLst>
              <a:ext uri="{FF2B5EF4-FFF2-40B4-BE49-F238E27FC236}">
                <a16:creationId xmlns:a16="http://schemas.microsoft.com/office/drawing/2014/main" id="{F36EE197-B252-6906-D1C4-2B9F826204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Random Forest</a:t>
            </a:r>
            <a:endParaRPr dirty="0"/>
          </a:p>
        </p:txBody>
      </p:sp>
      <p:sp>
        <p:nvSpPr>
          <p:cNvPr id="420" name="Google Shape;420;p40">
            <a:extLst>
              <a:ext uri="{FF2B5EF4-FFF2-40B4-BE49-F238E27FC236}">
                <a16:creationId xmlns:a16="http://schemas.microsoft.com/office/drawing/2014/main" id="{F745A8CF-0D18-9E4C-3220-F6A4AAB454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4" name="Picture 3" descr="A graph of a bar graph&#10;&#10;AI-generated content may be incorrect.">
            <a:extLst>
              <a:ext uri="{FF2B5EF4-FFF2-40B4-BE49-F238E27FC236}">
                <a16:creationId xmlns:a16="http://schemas.microsoft.com/office/drawing/2014/main" id="{986E8CE5-2E91-10E5-ABD0-60276C3BA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06" y="1363435"/>
            <a:ext cx="7280787" cy="260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39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>
          <a:extLst>
            <a:ext uri="{FF2B5EF4-FFF2-40B4-BE49-F238E27FC236}">
              <a16:creationId xmlns:a16="http://schemas.microsoft.com/office/drawing/2014/main" id="{15F1A888-FD21-0EEA-186D-FF72855F8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>
            <a:extLst>
              <a:ext uri="{FF2B5EF4-FFF2-40B4-BE49-F238E27FC236}">
                <a16:creationId xmlns:a16="http://schemas.microsoft.com/office/drawing/2014/main" id="{3AF30CAC-CFA9-6814-7836-6853C9B759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CNN-LSTM</a:t>
            </a:r>
            <a:endParaRPr dirty="0"/>
          </a:p>
        </p:txBody>
      </p:sp>
      <p:sp>
        <p:nvSpPr>
          <p:cNvPr id="420" name="Google Shape;420;p40">
            <a:extLst>
              <a:ext uri="{FF2B5EF4-FFF2-40B4-BE49-F238E27FC236}">
                <a16:creationId xmlns:a16="http://schemas.microsoft.com/office/drawing/2014/main" id="{266D043E-C269-A3B0-2A8D-900D6A4BE8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4" name="Picture 3" descr="A graph of a bar graph&#10;&#10;AI-generated content may be incorrect.">
            <a:extLst>
              <a:ext uri="{FF2B5EF4-FFF2-40B4-BE49-F238E27FC236}">
                <a16:creationId xmlns:a16="http://schemas.microsoft.com/office/drawing/2014/main" id="{5C44643A-8FFD-67F1-560D-94CD2C989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06" y="1363435"/>
            <a:ext cx="7280787" cy="260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274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>
          <a:extLst>
            <a:ext uri="{FF2B5EF4-FFF2-40B4-BE49-F238E27FC236}">
              <a16:creationId xmlns:a16="http://schemas.microsoft.com/office/drawing/2014/main" id="{733486D4-939D-52F3-3AB7-7FA5FA5C4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>
            <a:extLst>
              <a:ext uri="{FF2B5EF4-FFF2-40B4-BE49-F238E27FC236}">
                <a16:creationId xmlns:a16="http://schemas.microsoft.com/office/drawing/2014/main" id="{F8EC1E78-1DAD-06D1-1AA2-DAB3AD646C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24</a:t>
            </a:r>
            <a:r>
              <a:rPr lang="el-GR" dirty="0"/>
              <a:t>ωρη Πρόβλεψη</a:t>
            </a:r>
            <a:endParaRPr dirty="0"/>
          </a:p>
        </p:txBody>
      </p:sp>
      <p:sp>
        <p:nvSpPr>
          <p:cNvPr id="408" name="Google Shape;408;p40">
            <a:extLst>
              <a:ext uri="{FF2B5EF4-FFF2-40B4-BE49-F238E27FC236}">
                <a16:creationId xmlns:a16="http://schemas.microsoft.com/office/drawing/2014/main" id="{7EFA17EF-FFF4-EC34-3C3D-D62A324E66A5}"/>
              </a:ext>
            </a:extLst>
          </p:cNvPr>
          <p:cNvSpPr txBox="1"/>
          <p:nvPr/>
        </p:nvSpPr>
        <p:spPr>
          <a:xfrm>
            <a:off x="722491" y="1689200"/>
            <a:ext cx="25572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l-GR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Σκοπός</a:t>
            </a:r>
            <a:endParaRPr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9" name="Google Shape;409;p40">
            <a:extLst>
              <a:ext uri="{FF2B5EF4-FFF2-40B4-BE49-F238E27FC236}">
                <a16:creationId xmlns:a16="http://schemas.microsoft.com/office/drawing/2014/main" id="{E4807FBA-786E-B7B5-A29A-7F04024B5BC5}"/>
              </a:ext>
            </a:extLst>
          </p:cNvPr>
          <p:cNvSpPr txBox="1"/>
          <p:nvPr/>
        </p:nvSpPr>
        <p:spPr>
          <a:xfrm>
            <a:off x="722450" y="2177300"/>
            <a:ext cx="2557200" cy="13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Πρόβλεψη θερμοκρασίας και σχετικής υγρασίας των επόμενων 24ωρων, με είσοδο το αναμενόμενο πρόγραμμα ενεργοποίησης της αντλίας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10" name="Google Shape;410;p40">
            <a:extLst>
              <a:ext uri="{FF2B5EF4-FFF2-40B4-BE49-F238E27FC236}">
                <a16:creationId xmlns:a16="http://schemas.microsoft.com/office/drawing/2014/main" id="{11A0FDEF-DC08-0E4A-F75B-CA87FB442FF6}"/>
              </a:ext>
            </a:extLst>
          </p:cNvPr>
          <p:cNvSpPr txBox="1"/>
          <p:nvPr/>
        </p:nvSpPr>
        <p:spPr>
          <a:xfrm>
            <a:off x="6965403" y="1875800"/>
            <a:ext cx="14655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l-GR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Μοντέλα</a:t>
            </a:r>
            <a:endParaRPr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11" name="Google Shape;411;p40">
            <a:extLst>
              <a:ext uri="{FF2B5EF4-FFF2-40B4-BE49-F238E27FC236}">
                <a16:creationId xmlns:a16="http://schemas.microsoft.com/office/drawing/2014/main" id="{4A4436C9-4F97-04DA-3D4E-390BD5A48512}"/>
              </a:ext>
            </a:extLst>
          </p:cNvPr>
          <p:cNvSpPr txBox="1"/>
          <p:nvPr/>
        </p:nvSpPr>
        <p:spPr>
          <a:xfrm>
            <a:off x="6427425" y="2184850"/>
            <a:ext cx="200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9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Συνδυάζει όλα τα μοντέλα που φτιάχτηκαν για βηματικές προβλέψεις</a:t>
            </a:r>
            <a:endParaRPr sz="9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12" name="Google Shape;412;p40">
            <a:extLst>
              <a:ext uri="{FF2B5EF4-FFF2-40B4-BE49-F238E27FC236}">
                <a16:creationId xmlns:a16="http://schemas.microsoft.com/office/drawing/2014/main" id="{A6B31B44-F41A-953D-B9A0-BDF9C84C1298}"/>
              </a:ext>
            </a:extLst>
          </p:cNvPr>
          <p:cNvSpPr txBox="1"/>
          <p:nvPr/>
        </p:nvSpPr>
        <p:spPr>
          <a:xfrm>
            <a:off x="3570312" y="2778625"/>
            <a:ext cx="14655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Rollout</a:t>
            </a:r>
            <a:endParaRPr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13" name="Google Shape;413;p40">
            <a:extLst>
              <a:ext uri="{FF2B5EF4-FFF2-40B4-BE49-F238E27FC236}">
                <a16:creationId xmlns:a16="http://schemas.microsoft.com/office/drawing/2014/main" id="{9F171D90-5612-F609-71F2-82A347E61EFF}"/>
              </a:ext>
            </a:extLst>
          </p:cNvPr>
          <p:cNvSpPr txBox="1"/>
          <p:nvPr/>
        </p:nvSpPr>
        <p:spPr>
          <a:xfrm>
            <a:off x="3570288" y="3087675"/>
            <a:ext cx="200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0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Κατασκευή </a:t>
            </a:r>
            <a:r>
              <a:rPr lang="en-US" sz="10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buffer </a:t>
            </a:r>
            <a:r>
              <a:rPr lang="el-GR" sz="10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από προβλέψεις προηγούμενων βημάτων για χρήση στα επόμενα</a:t>
            </a:r>
            <a:endParaRPr sz="10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14" name="Google Shape;414;p40">
            <a:extLst>
              <a:ext uri="{FF2B5EF4-FFF2-40B4-BE49-F238E27FC236}">
                <a16:creationId xmlns:a16="http://schemas.microsoft.com/office/drawing/2014/main" id="{59494C51-56CC-F2C9-4C0F-B9B1FCC7653C}"/>
              </a:ext>
            </a:extLst>
          </p:cNvPr>
          <p:cNvSpPr txBox="1"/>
          <p:nvPr/>
        </p:nvSpPr>
        <p:spPr>
          <a:xfrm>
            <a:off x="6965337" y="3721125"/>
            <a:ext cx="1682134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l-GR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Συνεισφορα</a:t>
            </a:r>
            <a:endParaRPr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15" name="Google Shape;415;p40">
            <a:extLst>
              <a:ext uri="{FF2B5EF4-FFF2-40B4-BE49-F238E27FC236}">
                <a16:creationId xmlns:a16="http://schemas.microsoft.com/office/drawing/2014/main" id="{39B0CD0F-F74F-9D17-EB90-A2D67C54B6A5}"/>
              </a:ext>
            </a:extLst>
          </p:cNvPr>
          <p:cNvSpPr txBox="1"/>
          <p:nvPr/>
        </p:nvSpPr>
        <p:spPr>
          <a:xfrm>
            <a:off x="6427413" y="4030175"/>
            <a:ext cx="2003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0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Την χρησιμοποιούν οι αλγόριθμοι βελτιστοποίησης για έλεγχο θερμικής άνεσης</a:t>
            </a:r>
            <a:endParaRPr sz="10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16" name="Google Shape;416;p40">
            <a:extLst>
              <a:ext uri="{FF2B5EF4-FFF2-40B4-BE49-F238E27FC236}">
                <a16:creationId xmlns:a16="http://schemas.microsoft.com/office/drawing/2014/main" id="{D6B8469E-D343-F11B-5070-A4484102EDF1}"/>
              </a:ext>
            </a:extLst>
          </p:cNvPr>
          <p:cNvSpPr/>
          <p:nvPr/>
        </p:nvSpPr>
        <p:spPr>
          <a:xfrm>
            <a:off x="6547652" y="1875803"/>
            <a:ext cx="367800" cy="3336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sz="18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17" name="Google Shape;417;p40">
            <a:extLst>
              <a:ext uri="{FF2B5EF4-FFF2-40B4-BE49-F238E27FC236}">
                <a16:creationId xmlns:a16="http://schemas.microsoft.com/office/drawing/2014/main" id="{78D2586B-34DC-F9BF-FA59-14DC891E8B73}"/>
              </a:ext>
            </a:extLst>
          </p:cNvPr>
          <p:cNvSpPr/>
          <p:nvPr/>
        </p:nvSpPr>
        <p:spPr>
          <a:xfrm>
            <a:off x="5072788" y="2778628"/>
            <a:ext cx="367800" cy="3678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endParaRPr sz="18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18" name="Google Shape;418;p40">
            <a:extLst>
              <a:ext uri="{FF2B5EF4-FFF2-40B4-BE49-F238E27FC236}">
                <a16:creationId xmlns:a16="http://schemas.microsoft.com/office/drawing/2014/main" id="{A8D0163B-A571-12A8-CC2D-DEEFFCEE6B73}"/>
              </a:ext>
            </a:extLst>
          </p:cNvPr>
          <p:cNvSpPr/>
          <p:nvPr/>
        </p:nvSpPr>
        <p:spPr>
          <a:xfrm>
            <a:off x="6527187" y="3715653"/>
            <a:ext cx="367800" cy="3678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3</a:t>
            </a:r>
            <a:endParaRPr sz="1800" b="1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19" name="Google Shape;419;p40">
            <a:extLst>
              <a:ext uri="{FF2B5EF4-FFF2-40B4-BE49-F238E27FC236}">
                <a16:creationId xmlns:a16="http://schemas.microsoft.com/office/drawing/2014/main" id="{1671C971-D276-9B02-6082-635BCC370727}"/>
              </a:ext>
            </a:extLst>
          </p:cNvPr>
          <p:cNvSpPr txBox="1"/>
          <p:nvPr/>
        </p:nvSpPr>
        <p:spPr>
          <a:xfrm>
            <a:off x="5293711" y="1363282"/>
            <a:ext cx="1601273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l-GR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Λειτουργία</a:t>
            </a:r>
            <a:endParaRPr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20" name="Google Shape;420;p40">
            <a:extLst>
              <a:ext uri="{FF2B5EF4-FFF2-40B4-BE49-F238E27FC236}">
                <a16:creationId xmlns:a16="http://schemas.microsoft.com/office/drawing/2014/main" id="{1B0177E7-11C0-2DF6-FBC7-3B70529096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cxnSp>
        <p:nvCxnSpPr>
          <p:cNvPr id="421" name="Google Shape;421;p40">
            <a:extLst>
              <a:ext uri="{FF2B5EF4-FFF2-40B4-BE49-F238E27FC236}">
                <a16:creationId xmlns:a16="http://schemas.microsoft.com/office/drawing/2014/main" id="{A9191CFD-0181-CC67-EBD5-C826DC5EDC98}"/>
              </a:ext>
            </a:extLst>
          </p:cNvPr>
          <p:cNvCxnSpPr/>
          <p:nvPr/>
        </p:nvCxnSpPr>
        <p:spPr>
          <a:xfrm>
            <a:off x="6055100" y="1812625"/>
            <a:ext cx="0" cy="2619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2" name="Google Shape;422;p40">
            <a:extLst>
              <a:ext uri="{FF2B5EF4-FFF2-40B4-BE49-F238E27FC236}">
                <a16:creationId xmlns:a16="http://schemas.microsoft.com/office/drawing/2014/main" id="{A7A378FF-4F67-A5E8-645F-647592D2FD66}"/>
              </a:ext>
            </a:extLst>
          </p:cNvPr>
          <p:cNvCxnSpPr>
            <a:stCxn id="416" idx="2"/>
          </p:cNvCxnSpPr>
          <p:nvPr/>
        </p:nvCxnSpPr>
        <p:spPr>
          <a:xfrm rot="10800000">
            <a:off x="5513552" y="2042603"/>
            <a:ext cx="1034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23" name="Google Shape;423;p40">
            <a:extLst>
              <a:ext uri="{FF2B5EF4-FFF2-40B4-BE49-F238E27FC236}">
                <a16:creationId xmlns:a16="http://schemas.microsoft.com/office/drawing/2014/main" id="{C967B8D5-49EA-5B7B-93FA-62F062A4318B}"/>
              </a:ext>
            </a:extLst>
          </p:cNvPr>
          <p:cNvCxnSpPr>
            <a:stCxn id="417" idx="6"/>
          </p:cNvCxnSpPr>
          <p:nvPr/>
        </p:nvCxnSpPr>
        <p:spPr>
          <a:xfrm>
            <a:off x="5440588" y="2962528"/>
            <a:ext cx="1020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37" name="Google Shape;437;p40">
            <a:extLst>
              <a:ext uri="{FF2B5EF4-FFF2-40B4-BE49-F238E27FC236}">
                <a16:creationId xmlns:a16="http://schemas.microsoft.com/office/drawing/2014/main" id="{4830ADE5-4DE3-B970-34A4-CD88AE8E48B0}"/>
              </a:ext>
            </a:extLst>
          </p:cNvPr>
          <p:cNvCxnSpPr>
            <a:stCxn id="418" idx="2"/>
          </p:cNvCxnSpPr>
          <p:nvPr/>
        </p:nvCxnSpPr>
        <p:spPr>
          <a:xfrm rot="10800000">
            <a:off x="5513487" y="3899553"/>
            <a:ext cx="10137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42" name="Google Shape;442;p40">
            <a:extLst>
              <a:ext uri="{FF2B5EF4-FFF2-40B4-BE49-F238E27FC236}">
                <a16:creationId xmlns:a16="http://schemas.microsoft.com/office/drawing/2014/main" id="{D3D1143D-CA52-C94C-D3B7-42C209F19CBC}"/>
              </a:ext>
            </a:extLst>
          </p:cNvPr>
          <p:cNvCxnSpPr/>
          <p:nvPr/>
        </p:nvCxnSpPr>
        <p:spPr>
          <a:xfrm>
            <a:off x="3427825" y="1428350"/>
            <a:ext cx="0" cy="3004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491210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>
          <a:extLst>
            <a:ext uri="{FF2B5EF4-FFF2-40B4-BE49-F238E27FC236}">
              <a16:creationId xmlns:a16="http://schemas.microsoft.com/office/drawing/2014/main" id="{A6A4C015-3F96-1EB7-12AF-273D2D6F0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>
            <a:extLst>
              <a:ext uri="{FF2B5EF4-FFF2-40B4-BE49-F238E27FC236}">
                <a16:creationId xmlns:a16="http://schemas.microsoft.com/office/drawing/2014/main" id="{2F7681BE-C36C-2B38-922A-F3C8AC946F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24</a:t>
            </a:r>
            <a:r>
              <a:rPr lang="el-GR" dirty="0"/>
              <a:t>ωρη Πρόβλεψη</a:t>
            </a:r>
            <a:endParaRPr dirty="0"/>
          </a:p>
        </p:txBody>
      </p:sp>
      <p:sp>
        <p:nvSpPr>
          <p:cNvPr id="408" name="Google Shape;408;p40">
            <a:extLst>
              <a:ext uri="{FF2B5EF4-FFF2-40B4-BE49-F238E27FC236}">
                <a16:creationId xmlns:a16="http://schemas.microsoft.com/office/drawing/2014/main" id="{828527AA-1C5C-700C-FAA3-9370AC32ECA9}"/>
              </a:ext>
            </a:extLst>
          </p:cNvPr>
          <p:cNvSpPr txBox="1"/>
          <p:nvPr/>
        </p:nvSpPr>
        <p:spPr>
          <a:xfrm>
            <a:off x="722491" y="1689200"/>
            <a:ext cx="25572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l-GR" sz="20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Αδυναμία</a:t>
            </a:r>
            <a:endParaRPr sz="2000" b="1"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09" name="Google Shape;409;p40">
            <a:extLst>
              <a:ext uri="{FF2B5EF4-FFF2-40B4-BE49-F238E27FC236}">
                <a16:creationId xmlns:a16="http://schemas.microsoft.com/office/drawing/2014/main" id="{EC874275-DDFB-FDBF-6AE8-53BB9A20B117}"/>
              </a:ext>
            </a:extLst>
          </p:cNvPr>
          <p:cNvSpPr txBox="1"/>
          <p:nvPr/>
        </p:nvSpPr>
        <p:spPr>
          <a:xfrm>
            <a:off x="722449" y="2177300"/>
            <a:ext cx="7595285" cy="962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Βασική αδυναμία αποτελεί το </a:t>
            </a:r>
            <a:r>
              <a:rPr lang="en-US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drifting. </a:t>
            </a: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Η συνάρτηση επιχειρεί να προβλέψει 96 βήματα συνεχόμενα με μοντέλα που προβλέπουν 1 βήμα. Αυτό εισάγει </a:t>
            </a:r>
            <a:r>
              <a:rPr lang="en-US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compounding error, </a:t>
            </a: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δηλαδή συσσωρευόμενο ανά βήμα το οποίο μεγαλώνει όσο πλησιάζουμε το τέλος της μέρας.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20" name="Google Shape;420;p40">
            <a:extLst>
              <a:ext uri="{FF2B5EF4-FFF2-40B4-BE49-F238E27FC236}">
                <a16:creationId xmlns:a16="http://schemas.microsoft.com/office/drawing/2014/main" id="{64486143-A2B0-1A31-6DD7-D73C9E46CC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cxnSp>
        <p:nvCxnSpPr>
          <p:cNvPr id="442" name="Google Shape;442;p40">
            <a:extLst>
              <a:ext uri="{FF2B5EF4-FFF2-40B4-BE49-F238E27FC236}">
                <a16:creationId xmlns:a16="http://schemas.microsoft.com/office/drawing/2014/main" id="{EE908857-C9A2-744B-AB16-42A6D73ED84C}"/>
              </a:ext>
            </a:extLst>
          </p:cNvPr>
          <p:cNvCxnSpPr/>
          <p:nvPr/>
        </p:nvCxnSpPr>
        <p:spPr>
          <a:xfrm>
            <a:off x="365076" y="1241537"/>
            <a:ext cx="0" cy="3004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236374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>
          <a:extLst>
            <a:ext uri="{FF2B5EF4-FFF2-40B4-BE49-F238E27FC236}">
              <a16:creationId xmlns:a16="http://schemas.microsoft.com/office/drawing/2014/main" id="{430B7426-5024-414C-F1AB-42986B338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>
            <a:extLst>
              <a:ext uri="{FF2B5EF4-FFF2-40B4-BE49-F238E27FC236}">
                <a16:creationId xmlns:a16="http://schemas.microsoft.com/office/drawing/2014/main" id="{0415823B-4BCD-F9D3-BAC7-DE5919B126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24ωρη Συνάρτηση</a:t>
            </a:r>
            <a:endParaRPr dirty="0"/>
          </a:p>
        </p:txBody>
      </p:sp>
      <p:sp>
        <p:nvSpPr>
          <p:cNvPr id="420" name="Google Shape;420;p40">
            <a:extLst>
              <a:ext uri="{FF2B5EF4-FFF2-40B4-BE49-F238E27FC236}">
                <a16:creationId xmlns:a16="http://schemas.microsoft.com/office/drawing/2014/main" id="{618E7307-DD66-4986-CDB8-0269CE4D8D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9B233E-0ADE-461A-F342-57E1A4E7D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923" y="1073063"/>
            <a:ext cx="6046154" cy="369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786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1AC3CE19-6234-09AD-9D6B-34B351865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E53A79BB-A184-41A6-5AF6-E9FAB57B1A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3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9A82F785-0A4A-D90B-E275-72C31ED38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700" y="509573"/>
            <a:ext cx="2636600" cy="412435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50346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>
          <a:extLst>
            <a:ext uri="{FF2B5EF4-FFF2-40B4-BE49-F238E27FC236}">
              <a16:creationId xmlns:a16="http://schemas.microsoft.com/office/drawing/2014/main" id="{ABECC1A7-6B0A-28BB-A8B2-669E28D8E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>
            <a:extLst>
              <a:ext uri="{FF2B5EF4-FFF2-40B4-BE49-F238E27FC236}">
                <a16:creationId xmlns:a16="http://schemas.microsoft.com/office/drawing/2014/main" id="{7DD25521-14BF-FAB7-BFD1-4C54E7652F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Πρώτη Βελτιστοποίηση</a:t>
            </a:r>
            <a:endParaRPr dirty="0"/>
          </a:p>
        </p:txBody>
      </p:sp>
      <p:sp>
        <p:nvSpPr>
          <p:cNvPr id="409" name="Google Shape;409;p40">
            <a:extLst>
              <a:ext uri="{FF2B5EF4-FFF2-40B4-BE49-F238E27FC236}">
                <a16:creationId xmlns:a16="http://schemas.microsoft.com/office/drawing/2014/main" id="{74FC3B95-45C3-740B-7D05-370E4C2D91FB}"/>
              </a:ext>
            </a:extLst>
          </p:cNvPr>
          <p:cNvSpPr txBox="1"/>
          <p:nvPr/>
        </p:nvSpPr>
        <p:spPr>
          <a:xfrm>
            <a:off x="720001" y="1258667"/>
            <a:ext cx="4126350" cy="30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Επιδιώκουμε μεγιστοποίηση της θερμικής άνεσης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Χρήση γενετικού αλγόριθμου</a:t>
            </a:r>
            <a:endParaRPr lang="en-US"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395288" indent="-1714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l-GR" sz="1200" dirty="0">
                <a:solidFill>
                  <a:srgbClr val="747476"/>
                </a:solidFill>
                <a:latin typeface="Mulish" panose="020B0604020202020204" charset="0"/>
              </a:rPr>
              <a:t>δημιουργία και διατήρηση ενός πληθυσμού υποψήφιων λύσεων</a:t>
            </a:r>
            <a:endParaRPr lang="en-US" sz="1200" dirty="0">
              <a:solidFill>
                <a:srgbClr val="747476"/>
              </a:solidFill>
              <a:latin typeface="Mulish" panose="020B0604020202020204" charset="0"/>
            </a:endParaRPr>
          </a:p>
          <a:p>
            <a:pPr marL="395288" indent="-1714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l-GR" sz="1200" dirty="0">
                <a:solidFill>
                  <a:srgbClr val="747476"/>
                </a:solidFill>
                <a:latin typeface="Mulish" panose="020B0604020202020204" charset="0"/>
              </a:rPr>
              <a:t>Αξιολόγηση μέσω συνάρτηση καταλληλότητας</a:t>
            </a:r>
          </a:p>
          <a:p>
            <a:pPr marL="395288" indent="-1714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l-GR" sz="1200" dirty="0">
                <a:solidFill>
                  <a:srgbClr val="747476"/>
                </a:solidFill>
                <a:latin typeface="Mulish" panose="020B0604020202020204" charset="0"/>
              </a:rPr>
              <a:t>Εξέλιξη με διασταύρωση (crossover) και μετάλλαξη (mutation)</a:t>
            </a:r>
            <a:endParaRPr lang="el-GR" sz="1200" dirty="0">
              <a:solidFill>
                <a:srgbClr val="747476"/>
              </a:solidFill>
              <a:latin typeface="Mulish" panose="020B0604020202020204" charset="0"/>
              <a:sym typeface="Mulish"/>
            </a:endParaRPr>
          </a:p>
          <a:p>
            <a:pPr marL="228600" indent="-1714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l-GR" sz="1200" dirty="0">
                <a:solidFill>
                  <a:srgbClr val="5C5C5F"/>
                </a:solidFill>
                <a:latin typeface="Mulish" panose="020B0604020202020204" charset="0"/>
                <a:sym typeface="Mulish"/>
              </a:rPr>
              <a:t>Έτσι, ο γενετικός αλγόριθμος επιλέγει ένα </a:t>
            </a:r>
            <a:r>
              <a:rPr lang="en-US" sz="1200" dirty="0">
                <a:solidFill>
                  <a:srgbClr val="5C5C5F"/>
                </a:solidFill>
                <a:latin typeface="Mulish" panose="020B0604020202020204" charset="0"/>
                <a:sym typeface="Mulish"/>
              </a:rPr>
              <a:t>HVAC </a:t>
            </a:r>
            <a:r>
              <a:rPr lang="el-GR" sz="1200" dirty="0">
                <a:solidFill>
                  <a:srgbClr val="5C5C5F"/>
                </a:solidFill>
                <a:latin typeface="Mulish" panose="020B0604020202020204" charset="0"/>
                <a:sym typeface="Mulish"/>
              </a:rPr>
              <a:t>πρόγραμμα ενεργοποιήσεων και επαληθεύει νέα θερμική άνεση μέσω της 24ωρης συνάρτησης πρόβλεψης</a:t>
            </a:r>
            <a:endParaRPr lang="en-US" sz="1200" dirty="0">
              <a:solidFill>
                <a:srgbClr val="5C5C5F"/>
              </a:solidFill>
              <a:latin typeface="Mulish" panose="020B0604020202020204" charset="0"/>
              <a:sym typeface="Mulish"/>
            </a:endParaRPr>
          </a:p>
          <a:p>
            <a:pPr marL="228600" indent="-171450">
              <a:lnSpc>
                <a:spcPct val="115000"/>
              </a:lnSpc>
              <a:buFont typeface="Wingdings" panose="05000000000000000000" pitchFamily="2" charset="2"/>
              <a:buChar char="Ø"/>
            </a:pPr>
            <a:r>
              <a:rPr lang="el-GR" sz="1200" dirty="0">
                <a:solidFill>
                  <a:srgbClr val="5C5C5F"/>
                </a:solidFill>
                <a:latin typeface="Mulish" panose="020B0604020202020204" charset="0"/>
                <a:sym typeface="Mulish"/>
              </a:rPr>
              <a:t>Άρα οι εισόδοι μας είναι ακολουθίες μήκους 96 από 0,1,2 που συμβολίζουν τη λειτουργία της θερμικής αντλίας</a:t>
            </a:r>
            <a:endParaRPr lang="el-GR" sz="1200" dirty="0">
              <a:solidFill>
                <a:srgbClr val="5C5C5F"/>
              </a:solidFill>
              <a:latin typeface="Mulish" panose="020B0604020202020204" charset="0"/>
            </a:endParaRPr>
          </a:p>
        </p:txBody>
      </p:sp>
      <p:sp>
        <p:nvSpPr>
          <p:cNvPr id="420" name="Google Shape;420;p40">
            <a:extLst>
              <a:ext uri="{FF2B5EF4-FFF2-40B4-BE49-F238E27FC236}">
                <a16:creationId xmlns:a16="http://schemas.microsoft.com/office/drawing/2014/main" id="{BB90BF19-8171-223F-3846-C24412C680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cxnSp>
        <p:nvCxnSpPr>
          <p:cNvPr id="442" name="Google Shape;442;p40">
            <a:extLst>
              <a:ext uri="{FF2B5EF4-FFF2-40B4-BE49-F238E27FC236}">
                <a16:creationId xmlns:a16="http://schemas.microsoft.com/office/drawing/2014/main" id="{3E631B74-6BC2-F7C8-9DFA-230B1DE18165}"/>
              </a:ext>
            </a:extLst>
          </p:cNvPr>
          <p:cNvCxnSpPr/>
          <p:nvPr/>
        </p:nvCxnSpPr>
        <p:spPr>
          <a:xfrm>
            <a:off x="373541" y="1258667"/>
            <a:ext cx="0" cy="3004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1026" name="Picture 2" descr="Fractional Derivative to Symmetrically Extend the Memory of Fuzzy C-Means">
            <a:extLst>
              <a:ext uri="{FF2B5EF4-FFF2-40B4-BE49-F238E27FC236}">
                <a16:creationId xmlns:a16="http://schemas.microsoft.com/office/drawing/2014/main" id="{621DCCDA-1A7B-B431-80ED-2F2F04888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385" y="1299265"/>
            <a:ext cx="2870630" cy="254497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270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5207C88C-0FF3-2841-5D4A-E8538D0A4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E29766A3-109E-1D14-ABF2-C4A4843F90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70E7A1-6CD9-2B26-0B51-201D9A89E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970" y="717870"/>
            <a:ext cx="6122759" cy="370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690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F60353A2-E0A1-AD79-76AD-2D98C419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2CCCC29E-B74B-2694-C7E7-F318D8E782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A3D1E9-600A-58F5-D57A-7B730EB3C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86" y="1017725"/>
            <a:ext cx="6957028" cy="345803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Google Shape;407;p40">
            <a:extLst>
              <a:ext uri="{FF2B5EF4-FFF2-40B4-BE49-F238E27FC236}">
                <a16:creationId xmlns:a16="http://schemas.microsoft.com/office/drawing/2014/main" id="{953D73BE-1D53-53AE-6A16-D94BA26BCD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8139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Μη αποσυνθεμένα αποτελέσματα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9732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7AE0E834-2F47-55C3-8B9D-901E92890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92DA5A6C-A4CB-4495-5494-76EFA21837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2" name="Google Shape;407;p40">
            <a:extLst>
              <a:ext uri="{FF2B5EF4-FFF2-40B4-BE49-F238E27FC236}">
                <a16:creationId xmlns:a16="http://schemas.microsoft.com/office/drawing/2014/main" id="{1CEBA0FD-2804-C299-AD75-A23DDA547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804" y="1684579"/>
            <a:ext cx="7858392" cy="1619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4</a:t>
            </a:r>
            <a:r>
              <a:rPr lang="el-GR" sz="4400" dirty="0"/>
              <a:t>.58</a:t>
            </a:r>
            <a:r>
              <a:rPr lang="en-US" sz="4400" dirty="0"/>
              <a:t>% </a:t>
            </a:r>
            <a:r>
              <a:rPr lang="el-GR" sz="4400" dirty="0"/>
              <a:t>Αύξηση Θερμικής Άνεσης!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3443774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EAD0A867-6C51-F70A-705D-763D68D22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BF655F9C-F06D-F14E-CF00-2A8563D1C0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6B7CDF-2929-599D-0E10-B6F01D41F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28" y="1008299"/>
            <a:ext cx="7049544" cy="350402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Google Shape;407;p40">
            <a:extLst>
              <a:ext uri="{FF2B5EF4-FFF2-40B4-BE49-F238E27FC236}">
                <a16:creationId xmlns:a16="http://schemas.microsoft.com/office/drawing/2014/main" id="{C248DC6D-AC2C-3699-042E-424A2F4271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4780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</a:t>
            </a:r>
            <a:r>
              <a:rPr lang="el-GR" dirty="0"/>
              <a:t>ποσυνθεμένα αποτελέσματα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8153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2176BE58-57C9-0A41-3618-FD79C0717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0178A106-D2EE-A800-C1D6-3770567381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2" name="Google Shape;407;p40">
            <a:extLst>
              <a:ext uri="{FF2B5EF4-FFF2-40B4-BE49-F238E27FC236}">
                <a16:creationId xmlns:a16="http://schemas.microsoft.com/office/drawing/2014/main" id="{87DE4F33-C575-62BF-0C56-32F13ABF6F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804" y="1684579"/>
            <a:ext cx="7858392" cy="1619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3.07% </a:t>
            </a:r>
            <a:r>
              <a:rPr lang="el-GR" sz="4400" dirty="0"/>
              <a:t>Αύξηση Θερμικής Άνεσης!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3601609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>
          <a:extLst>
            <a:ext uri="{FF2B5EF4-FFF2-40B4-BE49-F238E27FC236}">
              <a16:creationId xmlns:a16="http://schemas.microsoft.com/office/drawing/2014/main" id="{D1188C69-8B30-5AFC-6BEA-612D00B3B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>
            <a:extLst>
              <a:ext uri="{FF2B5EF4-FFF2-40B4-BE49-F238E27FC236}">
                <a16:creationId xmlns:a16="http://schemas.microsoft.com/office/drawing/2014/main" id="{9598E315-8AC6-0392-BCE1-6A4535C393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Δεύτερη Βελτιστοποίηση</a:t>
            </a:r>
            <a:endParaRPr dirty="0"/>
          </a:p>
        </p:txBody>
      </p:sp>
      <p:sp>
        <p:nvSpPr>
          <p:cNvPr id="409" name="Google Shape;409;p40">
            <a:extLst>
              <a:ext uri="{FF2B5EF4-FFF2-40B4-BE49-F238E27FC236}">
                <a16:creationId xmlns:a16="http://schemas.microsoft.com/office/drawing/2014/main" id="{8603A447-92DD-89F8-1C31-C06BBFFD1E48}"/>
              </a:ext>
            </a:extLst>
          </p:cNvPr>
          <p:cNvSpPr txBox="1"/>
          <p:nvPr/>
        </p:nvSpPr>
        <p:spPr>
          <a:xfrm>
            <a:off x="720001" y="1258667"/>
            <a:ext cx="4126350" cy="30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Επιδιώκουμε αύξηση αυτοκατανάλωσης (χρήση Φ/Β) για θερμικές ανάγκες, δίχως να είναι εις βάρος της θερμικής άνεσης (περιορισμός 100-</a:t>
            </a:r>
            <a:r>
              <a:rPr lang="en-US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ppd</a:t>
            </a:r>
            <a:r>
              <a:rPr lang="en-US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 &gt; 80%)</a:t>
            </a:r>
            <a:endParaRPr lang="el-GR"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Χρήση </a:t>
            </a:r>
            <a:r>
              <a:rPr lang="en-US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MILP</a:t>
            </a:r>
          </a:p>
          <a:p>
            <a:pPr marL="395288" indent="-1714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l-GR" sz="1200" dirty="0">
                <a:solidFill>
                  <a:srgbClr val="747476"/>
                </a:solidFill>
                <a:latin typeface="Mulish" panose="020B0604020202020204" charset="0"/>
              </a:rPr>
              <a:t>Μαθηματική</a:t>
            </a:r>
            <a:r>
              <a:rPr lang="en-US" sz="1200" dirty="0">
                <a:solidFill>
                  <a:srgbClr val="747476"/>
                </a:solidFill>
                <a:latin typeface="Mulish" panose="020B0604020202020204" charset="0"/>
              </a:rPr>
              <a:t> </a:t>
            </a:r>
            <a:r>
              <a:rPr lang="el-GR" sz="1200" dirty="0">
                <a:solidFill>
                  <a:srgbClr val="747476"/>
                </a:solidFill>
                <a:latin typeface="Mulish" panose="020B0604020202020204" charset="0"/>
              </a:rPr>
              <a:t>μεθοδολογία, όπου μεταβλητές απόφασης υπόκεινται σε γραμμικούς περιορισμούς και η αντικειμενική συνάρτηση είναι επίσης γραμμική</a:t>
            </a:r>
            <a:endParaRPr lang="en-US" sz="1200" dirty="0">
              <a:solidFill>
                <a:srgbClr val="747476"/>
              </a:solidFill>
              <a:latin typeface="Mulish" panose="020B0604020202020204" charset="0"/>
            </a:endParaRPr>
          </a:p>
          <a:p>
            <a:pPr marL="395288" indent="-1714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l-GR" sz="1200" dirty="0">
                <a:solidFill>
                  <a:srgbClr val="747476"/>
                </a:solidFill>
                <a:latin typeface="Mulish" panose="020B0604020202020204" charset="0"/>
              </a:rPr>
              <a:t>Κατάλληλο για διακριτές αποφάσεις (όπως η περίπτωσή μας)</a:t>
            </a:r>
          </a:p>
        </p:txBody>
      </p:sp>
      <p:sp>
        <p:nvSpPr>
          <p:cNvPr id="420" name="Google Shape;420;p40">
            <a:extLst>
              <a:ext uri="{FF2B5EF4-FFF2-40B4-BE49-F238E27FC236}">
                <a16:creationId xmlns:a16="http://schemas.microsoft.com/office/drawing/2014/main" id="{5A54C837-DD69-796C-D152-6F8B941428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cxnSp>
        <p:nvCxnSpPr>
          <p:cNvPr id="442" name="Google Shape;442;p40">
            <a:extLst>
              <a:ext uri="{FF2B5EF4-FFF2-40B4-BE49-F238E27FC236}">
                <a16:creationId xmlns:a16="http://schemas.microsoft.com/office/drawing/2014/main" id="{E45F623E-733A-2864-AF1C-943062843722}"/>
              </a:ext>
            </a:extLst>
          </p:cNvPr>
          <p:cNvCxnSpPr/>
          <p:nvPr/>
        </p:nvCxnSpPr>
        <p:spPr>
          <a:xfrm>
            <a:off x="373541" y="1258667"/>
            <a:ext cx="0" cy="3004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043819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F529E153-192E-3F35-D958-BA55A5A88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145BA3F7-481A-1993-D68F-A4C7CC2DBC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EB5703-8DB8-4F02-1416-F7C19E76A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209" y="568118"/>
            <a:ext cx="4783581" cy="403475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0689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0B3FAA48-825C-22BF-3B1D-B4DAA2FC4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058A7AAD-16E9-0D0C-DDF2-30583D6271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sp>
        <p:nvSpPr>
          <p:cNvPr id="5" name="Google Shape;407;p40">
            <a:extLst>
              <a:ext uri="{FF2B5EF4-FFF2-40B4-BE49-F238E27FC236}">
                <a16:creationId xmlns:a16="http://schemas.microsoft.com/office/drawing/2014/main" id="{A4391832-FF14-039E-74A3-3A222886E5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dirty="0"/>
              <a:t>Μη αποσυνθεμένα αποτελέσματα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A7FB9C-B4BA-4FAE-240D-115B70B77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88" y="1059855"/>
            <a:ext cx="7188824" cy="354302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5088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F6EE404C-064E-37A8-A60C-F75AB9E8B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52549B7C-60FD-AFAB-CFB0-7B2C38E3D9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2" name="Google Shape;407;p40">
            <a:extLst>
              <a:ext uri="{FF2B5EF4-FFF2-40B4-BE49-F238E27FC236}">
                <a16:creationId xmlns:a16="http://schemas.microsoft.com/office/drawing/2014/main" id="{37CF48B9-1A05-1A18-E31F-95FEF6F45D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804" y="1684579"/>
            <a:ext cx="7858392" cy="1619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52.9% </a:t>
            </a:r>
            <a:r>
              <a:rPr lang="el-GR" sz="4400" dirty="0"/>
              <a:t>Αύξηση χρήσης του Φ/Β!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3800104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973165F8-919E-BB28-C7A7-79AF9EC65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11F2D9C9-2125-E324-4CD1-9D90FAF00E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5" name="Google Shape;407;p40">
            <a:extLst>
              <a:ext uri="{FF2B5EF4-FFF2-40B4-BE49-F238E27FC236}">
                <a16:creationId xmlns:a16="http://schemas.microsoft.com/office/drawing/2014/main" id="{63D625A4-AE4C-906E-A29A-8A33517F5E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</a:t>
            </a:r>
            <a:r>
              <a:rPr lang="el-GR" dirty="0"/>
              <a:t>ποσυνθεμένα αποτελέσματα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06804-8861-9E60-7A56-6593ABBC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235" y="1065722"/>
            <a:ext cx="7079530" cy="348915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7694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>
          <a:extLst>
            <a:ext uri="{FF2B5EF4-FFF2-40B4-BE49-F238E27FC236}">
              <a16:creationId xmlns:a16="http://schemas.microsoft.com/office/drawing/2014/main" id="{1ED01280-5A43-4FAA-30A7-C5808B8C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>
            <a:extLst>
              <a:ext uri="{FF2B5EF4-FFF2-40B4-BE49-F238E27FC236}">
                <a16:creationId xmlns:a16="http://schemas.microsoft.com/office/drawing/2014/main" id="{D68B9050-0868-7AAE-43D5-CEF37729B1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2" name="Google Shape;407;p40">
            <a:extLst>
              <a:ext uri="{FF2B5EF4-FFF2-40B4-BE49-F238E27FC236}">
                <a16:creationId xmlns:a16="http://schemas.microsoft.com/office/drawing/2014/main" id="{DAC7E962-B54D-2B0D-7EE1-6852FAC1B0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2804" y="1684579"/>
            <a:ext cx="7858392" cy="1619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/>
              <a:t>46.8% </a:t>
            </a:r>
            <a:r>
              <a:rPr lang="el-GR" sz="4400" dirty="0"/>
              <a:t>Αύξηση χρήσης του Φ/Β!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31542661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4101C6CD-55AA-2BAE-1B71-8EBCCFCAC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3CB1C333-E46C-0CDF-643E-0598CEBA23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50590" y="1854500"/>
            <a:ext cx="432991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4400" dirty="0"/>
              <a:t>Συμπεράσματα</a:t>
            </a:r>
            <a:endParaRPr sz="4400" dirty="0"/>
          </a:p>
        </p:txBody>
      </p:sp>
      <p:sp>
        <p:nvSpPr>
          <p:cNvPr id="331" name="Google Shape;331;p32">
            <a:extLst>
              <a:ext uri="{FF2B5EF4-FFF2-40B4-BE49-F238E27FC236}">
                <a16:creationId xmlns:a16="http://schemas.microsoft.com/office/drawing/2014/main" id="{1C1D5335-CDD0-A228-7EAB-1B3E8D2DF85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624100" y="1894854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0</a:t>
            </a:r>
            <a:r>
              <a:rPr lang="el-GR" sz="4800" dirty="0"/>
              <a:t>3</a:t>
            </a:r>
            <a:endParaRPr sz="4800" dirty="0"/>
          </a:p>
        </p:txBody>
      </p:sp>
      <p:sp>
        <p:nvSpPr>
          <p:cNvPr id="332" name="Google Shape;332;p32">
            <a:extLst>
              <a:ext uri="{FF2B5EF4-FFF2-40B4-BE49-F238E27FC236}">
                <a16:creationId xmlns:a16="http://schemas.microsoft.com/office/drawing/2014/main" id="{822AE6DC-7040-E230-A5D4-A9524B1552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cxnSp>
        <p:nvCxnSpPr>
          <p:cNvPr id="333" name="Google Shape;333;p32">
            <a:extLst>
              <a:ext uri="{FF2B5EF4-FFF2-40B4-BE49-F238E27FC236}">
                <a16:creationId xmlns:a16="http://schemas.microsoft.com/office/drawing/2014/main" id="{D9DCE96C-82B6-893C-7E31-88B0C182DB6E}"/>
              </a:ext>
            </a:extLst>
          </p:cNvPr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>
            <a:extLst>
              <a:ext uri="{FF2B5EF4-FFF2-40B4-BE49-F238E27FC236}">
                <a16:creationId xmlns:a16="http://schemas.microsoft.com/office/drawing/2014/main" id="{5274DF57-6AE7-3405-BBD3-B8A58830DEF9}"/>
              </a:ext>
            </a:extLst>
          </p:cNvPr>
          <p:cNvCxnSpPr/>
          <p:nvPr/>
        </p:nvCxnSpPr>
        <p:spPr>
          <a:xfrm rot="10800000" flipH="1">
            <a:off x="1600600" y="1714341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9A577EB8-5B20-82B6-2C00-59FEC529B0C5}"/>
              </a:ext>
            </a:extLst>
          </p:cNvPr>
          <p:cNvSpPr/>
          <p:nvPr/>
        </p:nvSpPr>
        <p:spPr>
          <a:xfrm>
            <a:off x="2813900" y="2204696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>
            <a:extLst>
              <a:ext uri="{FF2B5EF4-FFF2-40B4-BE49-F238E27FC236}">
                <a16:creationId xmlns:a16="http://schemas.microsoft.com/office/drawing/2014/main" id="{F8A8E6A2-8D5D-E5AE-DEE8-7636CB174FCA}"/>
              </a:ext>
            </a:extLst>
          </p:cNvPr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0293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>
          <a:extLst>
            <a:ext uri="{FF2B5EF4-FFF2-40B4-BE49-F238E27FC236}">
              <a16:creationId xmlns:a16="http://schemas.microsoft.com/office/drawing/2014/main" id="{F9860225-1057-C806-CB8D-05EC63C4C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>
            <a:extLst>
              <a:ext uri="{FF2B5EF4-FFF2-40B4-BE49-F238E27FC236}">
                <a16:creationId xmlns:a16="http://schemas.microsoft.com/office/drawing/2014/main" id="{87AF3E83-CFCF-7B63-84C3-EEE9F6620E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400" dirty="0"/>
              <a:t>Συμπεράσματα και Μελλοντικές Κατευθήνσεις</a:t>
            </a:r>
            <a:endParaRPr sz="2400" dirty="0"/>
          </a:p>
        </p:txBody>
      </p:sp>
      <p:sp>
        <p:nvSpPr>
          <p:cNvPr id="409" name="Google Shape;409;p40">
            <a:extLst>
              <a:ext uri="{FF2B5EF4-FFF2-40B4-BE49-F238E27FC236}">
                <a16:creationId xmlns:a16="http://schemas.microsoft.com/office/drawing/2014/main" id="{FAC30007-D1D1-A685-237C-C87477DEE576}"/>
              </a:ext>
            </a:extLst>
          </p:cNvPr>
          <p:cNvSpPr txBox="1"/>
          <p:nvPr/>
        </p:nvSpPr>
        <p:spPr>
          <a:xfrm>
            <a:off x="720000" y="1241537"/>
            <a:ext cx="7886669" cy="30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Ισχυρή συνεισφορά με ένα πρωτότυπο </a:t>
            </a:r>
            <a:r>
              <a:rPr lang="en-US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pipeline </a:t>
            </a: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που διαχειρίζεται αποσύνθεση πρόβλεψη και βελτιστοποίηση με ελάχιστα αρχικά δεδομένα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Ανταγωνιστικά αποτελέσματα -&gt; Βελτίωση θερμικής άνεσης έως και 25% και αύξηση αυτοκατανάλωσης έως 60% με ελάχιστο πλήγμα στην θερμική άνεση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Θέτει θεμέλια για ένα πράσινο και βιώσιμο μέλλον μέσω αυτοματοποιημένης εκμετάλλευσης ΑΠΕ για νοικοκυριά και για μείωση κόστους ενέργειας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endParaRPr lang="el-GR"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Περιθώριο για βελτίωση με πιο πλούσια και μεγάλα δεδομένα που καλύπτουν τουλάχιστον ένα ημερολογιακό έτος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Μία καλύτερη μέθοδος αποσύνθεσης θα επιφέρει βέλτιστη εκπαίδευση μοντέλων χωρίς ανάγκη από δεδομένα </a:t>
            </a:r>
            <a:r>
              <a:rPr lang="en-US" sz="1200" dirty="0" err="1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hvac</a:t>
            </a:r>
            <a:endParaRPr lang="en-US"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Με τεχνικές περιορισμού </a:t>
            </a:r>
            <a:r>
              <a:rPr lang="en-US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drifting </a:t>
            </a:r>
            <a:r>
              <a:rPr lang="el-GR" sz="1200" dirty="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rPr>
              <a:t>μπορεί να  επιτευχθεί ακόμη μεγαλύτερη ακρίβεια στις προβλέψεις και εκ των υστέρων στα προβλήματα βελτιστοποίησης</a:t>
            </a:r>
            <a:endParaRPr sz="1200" dirty="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420" name="Google Shape;420;p40">
            <a:extLst>
              <a:ext uri="{FF2B5EF4-FFF2-40B4-BE49-F238E27FC236}">
                <a16:creationId xmlns:a16="http://schemas.microsoft.com/office/drawing/2014/main" id="{2A05D78D-97B3-54C9-7729-CA64B7DB25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cxnSp>
        <p:nvCxnSpPr>
          <p:cNvPr id="442" name="Google Shape;442;p40">
            <a:extLst>
              <a:ext uri="{FF2B5EF4-FFF2-40B4-BE49-F238E27FC236}">
                <a16:creationId xmlns:a16="http://schemas.microsoft.com/office/drawing/2014/main" id="{B9BD75DB-3D34-AF79-562D-C761355AB003}"/>
              </a:ext>
            </a:extLst>
          </p:cNvPr>
          <p:cNvCxnSpPr/>
          <p:nvPr/>
        </p:nvCxnSpPr>
        <p:spPr>
          <a:xfrm>
            <a:off x="365076" y="1241537"/>
            <a:ext cx="0" cy="3004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17987165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>
          <a:extLst>
            <a:ext uri="{FF2B5EF4-FFF2-40B4-BE49-F238E27FC236}">
              <a16:creationId xmlns:a16="http://schemas.microsoft.com/office/drawing/2014/main" id="{818E3917-3758-83A6-C16D-38F4820D3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0">
            <a:extLst>
              <a:ext uri="{FF2B5EF4-FFF2-40B4-BE49-F238E27FC236}">
                <a16:creationId xmlns:a16="http://schemas.microsoft.com/office/drawing/2014/main" id="{05BBB9E0-5B23-790C-760C-A8E8E93E61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DF499-2C70-CB8C-3D9F-E2DAD035405C}"/>
              </a:ext>
            </a:extLst>
          </p:cNvPr>
          <p:cNvSpPr txBox="1"/>
          <p:nvPr/>
        </p:nvSpPr>
        <p:spPr>
          <a:xfrm>
            <a:off x="905548" y="1306233"/>
            <a:ext cx="733290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l-GR" sz="4400" b="1" i="0" u="none" strike="noStrike" kern="0" cap="none" spc="0" normalizeH="0" baseline="0" noProof="0" dirty="0">
                <a:ln>
                  <a:noFill/>
                </a:ln>
                <a:solidFill>
                  <a:srgbClr val="5C5C5F"/>
                </a:solidFill>
                <a:effectLst/>
                <a:uLnTx/>
                <a:uFillTx/>
                <a:latin typeface="Quicksand"/>
                <a:sym typeface="Quicksand"/>
              </a:rPr>
              <a:t>Ευχαριστώ πολύ για τον χρόνο και την προσοχή σας!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26169349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2300</TotalTime>
  <Words>988</Words>
  <Application>Microsoft Office PowerPoint</Application>
  <PresentationFormat>On-screen Show (16:9)</PresentationFormat>
  <Paragraphs>167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Quicksand</vt:lpstr>
      <vt:lpstr>Arial</vt:lpstr>
      <vt:lpstr>Mulish</vt:lpstr>
      <vt:lpstr>Bebas Neue</vt:lpstr>
      <vt:lpstr>Wingdings</vt:lpstr>
      <vt:lpstr>Courier New</vt:lpstr>
      <vt:lpstr>Elegant Bachelor Thesis by Slidesgo</vt:lpstr>
      <vt:lpstr>Ανάπτυξη Μεθοδολογίας Βελτιστοποίησης Θερμικής Άνεσης και Αξιοποίησης ΑΠΕ</vt:lpstr>
      <vt:lpstr>Περιεχόμενα</vt:lpstr>
      <vt:lpstr>Κίνητρο</vt:lpstr>
      <vt:lpstr>Σκοπός Διπλωματικής</vt:lpstr>
      <vt:lpstr>Σκοπός Διπλωματικής</vt:lpstr>
      <vt:lpstr>Διαδικασία</vt:lpstr>
      <vt:lpstr>Μεθοδολογία</vt:lpstr>
      <vt:lpstr>PowerPoint Presentation</vt:lpstr>
      <vt:lpstr>Προεπεξεργασία Δεδομένων</vt:lpstr>
      <vt:lpstr>Θερμική Άνεση</vt:lpstr>
      <vt:lpstr>PowerPoint Presentation</vt:lpstr>
      <vt:lpstr>Δημιουργία HVAC bins</vt:lpstr>
      <vt:lpstr>Hypotheses</vt:lpstr>
      <vt:lpstr>Αποτελέσματα αποσύνθεσης</vt:lpstr>
      <vt:lpstr>PowerPoint Presentation</vt:lpstr>
      <vt:lpstr>Μοντέλα Πρόβλεψης</vt:lpstr>
      <vt:lpstr>TCN</vt:lpstr>
      <vt:lpstr>Random Forest</vt:lpstr>
      <vt:lpstr>CNN-LSTM</vt:lpstr>
      <vt:lpstr>24ωρη Πρόβλεψη</vt:lpstr>
      <vt:lpstr>24ωρη Πρόβλεψη</vt:lpstr>
      <vt:lpstr>24ωρη Συνάρτηση</vt:lpstr>
      <vt:lpstr>PowerPoint Presentation</vt:lpstr>
      <vt:lpstr>Πρώτη Βελτιστοποίηση</vt:lpstr>
      <vt:lpstr>PowerPoint Presentation</vt:lpstr>
      <vt:lpstr>Μη αποσυνθεμένα αποτελέσματα</vt:lpstr>
      <vt:lpstr>4.58% Αύξηση Θερμικής Άνεσης!</vt:lpstr>
      <vt:lpstr>Aποσυνθεμένα αποτελέσματα</vt:lpstr>
      <vt:lpstr>3.07% Αύξηση Θερμικής Άνεσης!</vt:lpstr>
      <vt:lpstr>Δεύτερη Βελτιστοποίηση</vt:lpstr>
      <vt:lpstr>PowerPoint Presentation</vt:lpstr>
      <vt:lpstr>Μη αποσυνθεμένα αποτελέσματα</vt:lpstr>
      <vt:lpstr>52.9% Αύξηση χρήσης του Φ/Β!</vt:lpstr>
      <vt:lpstr>Aποσυνθεμένα αποτελέσματα</vt:lpstr>
      <vt:lpstr>46.8% Αύξηση χρήσης του Φ/Β!</vt:lpstr>
      <vt:lpstr>Συμπεράσματα</vt:lpstr>
      <vt:lpstr>Συμπεράσματα και Μελλοντικές Κατευθήνσεις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Kelsier</dc:creator>
  <cp:lastModifiedBy>Kelsier</cp:lastModifiedBy>
  <cp:revision>42</cp:revision>
  <dcterms:modified xsi:type="dcterms:W3CDTF">2025-10-03T11:00:53Z</dcterms:modified>
</cp:coreProperties>
</file>